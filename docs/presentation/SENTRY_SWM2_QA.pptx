
<file path=[Content_Types].xml><?xml version="1.0" encoding="utf-8"?>
<Types xmlns="http://schemas.openxmlformats.org/package/2006/content-types">
  <Default Extension="xml" ContentType="application/vnd.openxmlformats-package.core-properties+xml"/>
  <Default Extension="jpeg" ContentType="image/jpeg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14a3f5c473e4149" /><Relationship Type="http://schemas.openxmlformats.org/officeDocument/2006/relationships/extended-properties" Target="/docProps/app.xml" Id="Re24b98d9a5ae4802" /><Relationship Type="http://schemas.openxmlformats.org/officeDocument/2006/relationships/officeDocument" Target="/ppt/presentation.xml" Id="R03de0055f6534f1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aee74c157d194f94"/>
  </p:sldMasterIdLst>
  <p:notesMasterIdLst>
    <p:notesMasterId xmlns:r="http://schemas.openxmlformats.org/officeDocument/2006/relationships" r:id="R922357230b7f4cd1"/>
  </p:notesMasterIdLst>
  <p:sldIdLst>
    <p:sldId xmlns:r="http://schemas.openxmlformats.org/officeDocument/2006/relationships" id="256" r:id="R3927c892008c4936"/>
    <p:sldId xmlns:r="http://schemas.openxmlformats.org/officeDocument/2006/relationships" id="257" r:id="Rd34a9ed1f8b64665"/>
    <p:sldId xmlns:r="http://schemas.openxmlformats.org/officeDocument/2006/relationships" id="258" r:id="R6742a008b18d4231"/>
    <p:sldId xmlns:r="http://schemas.openxmlformats.org/officeDocument/2006/relationships" id="259" r:id="R9445e41b77584a44"/>
    <p:sldId xmlns:r="http://schemas.openxmlformats.org/officeDocument/2006/relationships" id="260" r:id="R0b28db2cf43049e3"/>
    <p:sldId xmlns:r="http://schemas.openxmlformats.org/officeDocument/2006/relationships" id="261" r:id="R8fdf6988f7114dc7"/>
    <p:sldId xmlns:r="http://schemas.openxmlformats.org/officeDocument/2006/relationships" id="262" r:id="Rb0b28ff8608549b3"/>
    <p:sldId xmlns:r="http://schemas.openxmlformats.org/officeDocument/2006/relationships" id="263" r:id="Rea4c79b1e47a4eab"/>
    <p:sldId xmlns:r="http://schemas.openxmlformats.org/officeDocument/2006/relationships" id="264" r:id="R2da40d0dd88f4aa8"/>
    <p:sldId xmlns:r="http://schemas.openxmlformats.org/officeDocument/2006/relationships" id="265" r:id="R2f7e6def86864698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f155da6fc114ebe" /><Relationship Type="http://schemas.openxmlformats.org/officeDocument/2006/relationships/slideMaster" Target="/ppt/slideMasters/slideMaster1.xml" Id="Raee74c157d194f94" /><Relationship Type="http://schemas.openxmlformats.org/officeDocument/2006/relationships/notesMaster" Target="/ppt/notesMasters/notesMaster1.xml" Id="R922357230b7f4cd1" /><Relationship Type="http://schemas.openxmlformats.org/officeDocument/2006/relationships/presProps" Target="/ppt/presProps.xml" Id="R9683f9bbea3e4e10" /><Relationship Type="http://schemas.openxmlformats.org/officeDocument/2006/relationships/tableStyles" Target="/ppt/tableStyles.xml" Id="R96871b5eda4648a2" /><Relationship Type="http://schemas.openxmlformats.org/officeDocument/2006/relationships/slide" Target="/ppt/slides/slide1.xml" Id="R3927c892008c4936" /><Relationship Type="http://schemas.openxmlformats.org/officeDocument/2006/relationships/slide" Target="/ppt/slides/slide2.xml" Id="Rd34a9ed1f8b64665" /><Relationship Type="http://schemas.openxmlformats.org/officeDocument/2006/relationships/slide" Target="/ppt/slides/slide3.xml" Id="R6742a008b18d4231" /><Relationship Type="http://schemas.openxmlformats.org/officeDocument/2006/relationships/slide" Target="/ppt/slides/slide4.xml" Id="R9445e41b77584a44" /><Relationship Type="http://schemas.openxmlformats.org/officeDocument/2006/relationships/slide" Target="/ppt/slides/slide5.xml" Id="R0b28db2cf43049e3" /><Relationship Type="http://schemas.openxmlformats.org/officeDocument/2006/relationships/slide" Target="/ppt/slides/slide6.xml" Id="R8fdf6988f7114dc7" /><Relationship Type="http://schemas.openxmlformats.org/officeDocument/2006/relationships/slide" Target="/ppt/slides/slide7.xml" Id="Rb0b28ff8608549b3" /><Relationship Type="http://schemas.openxmlformats.org/officeDocument/2006/relationships/slide" Target="/ppt/slides/slide8.xml" Id="Rea4c79b1e47a4eab" /><Relationship Type="http://schemas.openxmlformats.org/officeDocument/2006/relationships/slide" Target="/ppt/slides/slide9.xml" Id="R2da40d0dd88f4aa8" /><Relationship Type="http://schemas.openxmlformats.org/officeDocument/2006/relationships/slide" Target="/ppt/slides/slide10.xml" Id="R2f7e6def86864698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04b5ebbfb1c4dfe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f0ce8e5a9174f4d" /><Relationship Type="http://schemas.openxmlformats.org/officeDocument/2006/relationships/notesMaster" Target="/ppt/notesMasters/notesMaster1.xml" Id="R71f46d9ae9534fa8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03d30e6dda94567" /><Relationship Type="http://schemas.openxmlformats.org/officeDocument/2006/relationships/notesMaster" Target="/ppt/notesMasters/notesMaster1.xml" Id="Ree1a584769f74027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b4b8ca6c7214cb4" /><Relationship Type="http://schemas.openxmlformats.org/officeDocument/2006/relationships/notesMaster" Target="/ppt/notesMasters/notesMaster1.xml" Id="R56c5f646dc6a4d4f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22a5c9c8df5485b" /><Relationship Type="http://schemas.openxmlformats.org/officeDocument/2006/relationships/notesMaster" Target="/ppt/notesMasters/notesMaster1.xml" Id="R7181f2e8c0a34f6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0403ea3feb843c0" /><Relationship Type="http://schemas.openxmlformats.org/officeDocument/2006/relationships/notesMaster" Target="/ppt/notesMasters/notesMaster1.xml" Id="Rc654fb2953f142e6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dee7e52682f943ae" /><Relationship Type="http://schemas.openxmlformats.org/officeDocument/2006/relationships/notesMaster" Target="/ppt/notesMasters/notesMaster1.xml" Id="R10880b264d5b4060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407d5037c9049e6" /><Relationship Type="http://schemas.openxmlformats.org/officeDocument/2006/relationships/notesMaster" Target="/ppt/notesMasters/notesMaster1.xml" Id="R8ab51ffc0e8647a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c2116264fcd4a0d" /><Relationship Type="http://schemas.openxmlformats.org/officeDocument/2006/relationships/notesMaster" Target="/ppt/notesMasters/notesMaster1.xml" Id="Ra91cd9f243494d19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93ea8eda48544373" /><Relationship Type="http://schemas.openxmlformats.org/officeDocument/2006/relationships/notesMaster" Target="/ppt/notesMasters/notesMaster1.xml" Id="R33ba9691af434b7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8e770fee2f746f3" /><Relationship Type="http://schemas.openxmlformats.org/officeDocument/2006/relationships/notesMaster" Target="/ppt/notesMasters/notesMaster1.xml" Id="Rcdb57003ed0a419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https://github.com/rpozniak/sentry-swm2-qa/blob/main/reference/COURSEWORK.pdf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https://github.com/rpozniak/sentry-swm2-qa/blob/main/reference/PRD.md</a:t>
            </a:r>
          </a:p>
          <a:p xmlns:a="http://schemas.openxmlformats.org/drawingml/2006/main">
            <a:r>
              <a:t>Фото ESP32-S3 надане користувачем.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https://github.com/rpozniak/sentry-swm2-qa/blob/main/docs/TEST_PLAN.md</a:t>
            </a:r>
          </a:p>
          <a:p xmlns:a="http://schemas.openxmlformats.org/drawingml/2006/main">
            <a:r>
              <a:t>https://github.com/rpozniak/sentry-swm2-qa/blob/main/docs/TEST_CASES.md</a:t>
            </a:r>
          </a:p>
          <a:p xmlns:a="http://schemas.openxmlformats.org/drawingml/2006/main">
            <a:r>
              <a:t>https://github.com/rpozniak/sentry-swm2-qa/blob/main/reference/COURSEWORK_SCOPE.png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https://github.com/rpozniak/sentry-swm2-qa/blob/main/tests/README.md</a:t>
            </a:r>
          </a:p>
          <a:p xmlns:a="http://schemas.openxmlformats.org/drawingml/2006/main">
            <a:r>
              <a:t>https://github.com/rpozniak/sentry-swm2-qa/blob/main/conftest.py</a:t>
            </a:r>
          </a:p>
          <a:p xmlns:a="http://schemas.openxmlformats.org/drawingml/2006/main">
            <a:r>
              <a:t>https://github.com/rpozniak/sentry-swm2-qa/blob/main/framework/device_driver.py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Фото надав автор проєкту 24.10.2026. Оригінал: docs/assets/REAL_STAND_2026-10-24.jpg. Опис: docs/REAL_STAND.md. Автор підтвердив реле 5 В, Raspberry Pi 5, ESP32-S3, кнопки, датчик відстані, LED із резистором 220 Ом і мультиметр у режимі прозвонювання. Підключення за описом користувача: живлення модуля від Pi, IN з GPIO8 ESP32. Автор повідомив про спрацювання реле під час підготовки. Фото не змінює результатів фізичних кейсів. Журнал: docs/MANUAL_RUN.md. Поточний ручний стенд відрізняється від проєкту подальшої HIL-автоматизації на окремому слайді.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https://github.com/rpozniak/sentry-swm2-qa/blob/main/docs/TEST_CASES.md</a:t>
            </a:r>
          </a:p>
          <a:p xmlns:a="http://schemas.openxmlformats.org/drawingml/2006/main">
            <a:r>
              <a:t>https://github.com/rpozniak/sentry-swm2-qa/blob/main/docs/TRACEABILITY.md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https://github.com/rpozniak/sentry-swm2-qa/blob/main/docs/EXECUTION_RESULTS.md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https://github.com/rpozniak/sentry-swm2-qa/blob/main/bugs/BUG-LM-01.md</a:t>
            </a:r>
          </a:p>
          <a:p xmlns:a="http://schemas.openxmlformats.org/drawingml/2006/main">
            <a:r>
              <a:t>https://github.com/rpozniak/sentry-swm2-qa/blob/main/bugs/BUG-RL-01.md</a:t>
            </a:r>
          </a:p>
          <a:p xmlns:a="http://schemas.openxmlformats.org/drawingml/2006/main">
            <a:r>
              <a:t>https://github.com/rpozniak/sentry-swm2-qa/blob/main/bugs/BUG-RL-02.md</a:t>
            </a:r>
          </a:p>
          <a:p xmlns:a="http://schemas.openxmlformats.org/drawingml/2006/main">
            <a:r>
              <a:t>https://github.com/rpozniak/sentry-swm2-qa/blob/main/bugs/BUG-HL-01.md</a:t>
            </a:r>
          </a:p>
          <a:p xmlns:a="http://schemas.openxmlformats.org/drawingml/2006/main">
            <a:r>
              <a:t>https://github.com/rpozniak/sentry-swm2-qa/blob/main/bugs/BUG-AU-01.md</a:t>
            </a:r>
          </a:p>
          <a:p xmlns:a="http://schemas.openxmlformats.org/drawingml/2006/main">
            <a:r>
              <a:t>https://github.com/rpozniak/sentry-swm2-qa/blob/main/bugs/BUG-AL-01.md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https://github.com/rpozniak/sentry-swm2-qa/blob/main/docs/HIL_STAND.md</a:t>
            </a:r>
          </a:p>
          <a:p xmlns:a="http://schemas.openxmlformats.org/drawingml/2006/main">
            <a:r>
              <a:t>https://github.com/rpozniak/sentry-swm2-qa/blob/main/reference/PRD.md</a:t>
            </a:r>
          </a:p>
          <a:p xmlns:a="http://schemas.openxmlformats.org/drawingml/2006/main">
            <a:r>
              <a:t>MG90S є допоміжним макетом приводу клапана. PWM формує агент RP2040; очікування для SENTRY визначені в PRD.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https://github.com/rpozniak/sentry-swm2-qa/blob/main/REPORT.md</a:t>
            </a:r>
          </a:p>
          <a:p xmlns:a="http://schemas.openxmlformats.org/drawingml/2006/main">
            <a:r>
              <a:t>https://github.com/rpozniak/sentry-swm2-qa/blob/main/docs/TRACEABILITY.md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6e5eb65ef14db4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051cd71c85244b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8e5b7b2b1d4e2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6dcc69344e4271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af14a99597b4caf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a4280a705d647f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B0434414-7FD2-4B3F-A4B0-8C31566208DE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136BE9FC-E4D5-48C0-8DC1-AB3D7D830984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5C5B6052-41FD-459C-B93D-5E973952F1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D6B88F1-5A24-4CBA-B441-97D51252E2E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EE1AE55F-5E87-44FB-954E-6BA0CEB42A4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B8FEEDC2-FAEB-4D12-A72A-E6F0F1359C3A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82092633-6D1E-4400-82DC-AB7962BBDA2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B372027-34E7-4410-85B5-82E4EF199FD5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EFB45107-C374-4874-AFEA-D6437E739B9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70C7EC32-CC10-4533-8D4E-8479219D2A62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0d0f5f05c734c98" /><Relationship Type="http://schemas.openxmlformats.org/officeDocument/2006/relationships/slideLayout" Target="/ppt/slideLayouts/slideLayout1.xml" Id="Re89360c9c0d34a54" /><Relationship Type="http://schemas.openxmlformats.org/officeDocument/2006/relationships/slideLayout" Target="/ppt/slideLayouts/slideLayout2.xml" Id="R28abbaa3e83444dd" /><Relationship Type="http://schemas.openxmlformats.org/officeDocument/2006/relationships/slideLayout" Target="/ppt/slideLayouts/slideLayout3.xml" Id="Ra6e2a3a548f64d6d" /><Relationship Type="http://schemas.openxmlformats.org/officeDocument/2006/relationships/slideLayout" Target="/ppt/slideLayouts/slideLayout4.xml" Id="Rea3de692778648f8" /><Relationship Type="http://schemas.openxmlformats.org/officeDocument/2006/relationships/slideLayout" Target="/ppt/slideLayouts/slideLayout5.xml" Id="R2b8138ce5f944070" /><Relationship Type="http://schemas.openxmlformats.org/officeDocument/2006/relationships/slideLayout" Target="/ppt/slideLayouts/slideLayout6.xml" Id="R7aa6d1f762f34796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e89360c9c0d34a54"/>
    <p:sldLayoutId xmlns:r="http://schemas.openxmlformats.org/officeDocument/2006/relationships" id="2147483650" r:id="R28abbaa3e83444dd"/>
    <p:sldLayoutId xmlns:r="http://schemas.openxmlformats.org/officeDocument/2006/relationships" id="2147483651" r:id="Ra6e2a3a548f64d6d"/>
    <p:sldLayoutId xmlns:r="http://schemas.openxmlformats.org/officeDocument/2006/relationships" id="2147483652" r:id="Rea3de692778648f8"/>
    <p:sldLayoutId xmlns:r="http://schemas.openxmlformats.org/officeDocument/2006/relationships" id="2147483653" r:id="R2b8138ce5f944070"/>
    <p:sldLayoutId xmlns:r="http://schemas.openxmlformats.org/officeDocument/2006/relationships" id="2147483654" r:id="R7aa6d1f762f34796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1fcaf97a1c345f8" /><Relationship Type="http://schemas.openxmlformats.org/officeDocument/2006/relationships/notesSlide" Target="/ppt/notesSlides/notesSlide1.xml" Id="R712c71344c2647cd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b5e9221cb144161" /><Relationship Type="http://schemas.openxmlformats.org/officeDocument/2006/relationships/image" Target="/ppt/media/image.jpeg" Id="R5025be20eff74ea1" /><Relationship Type="http://schemas.openxmlformats.org/officeDocument/2006/relationships/notesSlide" Target="/ppt/notesSlides/notesSlide2.xml" Id="R8e83defecd77457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f4d49a07314411d" /><Relationship Type="http://schemas.openxmlformats.org/officeDocument/2006/relationships/notesSlide" Target="/ppt/notesSlides/notesSlide3.xml" Id="Rff0ad6ca61684771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38c7614bc43436c" /><Relationship Type="http://schemas.openxmlformats.org/officeDocument/2006/relationships/notesSlide" Target="/ppt/notesSlides/notesSlide4.xml" Id="Rc87d921fb5e24670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d3b374481bd41d4" /><Relationship Type="http://schemas.openxmlformats.org/officeDocument/2006/relationships/image" Target="/ppt/media/image2.jpeg" Id="R20095fbb25524d53" /><Relationship Type="http://schemas.openxmlformats.org/officeDocument/2006/relationships/notesSlide" Target="/ppt/notesSlides/notesSlide5.xml" Id="R2ff30040bd3d476c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74f143885f454de2" /><Relationship Type="http://schemas.openxmlformats.org/officeDocument/2006/relationships/notesSlide" Target="/ppt/notesSlides/notesSlide6.xml" Id="R7cb89ef38ef14393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55fc4f8b77c496c" /><Relationship Type="http://schemas.openxmlformats.org/officeDocument/2006/relationships/notesSlide" Target="/ppt/notesSlides/notesSlide7.xml" Id="R5c805ed2521644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0791cea77514ccd" /><Relationship Type="http://schemas.openxmlformats.org/officeDocument/2006/relationships/notesSlide" Target="/ppt/notesSlides/notesSlide8.xml" Id="R1251386fc4914b56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d794bfaf3a542dd" /><Relationship Type="http://schemas.openxmlformats.org/officeDocument/2006/relationships/image" Target="/ppt/media/image.png" Id="Rfe8342c4756d47d6" /><Relationship Type="http://schemas.openxmlformats.org/officeDocument/2006/relationships/notesSlide" Target="/ppt/notesSlides/notesSlide9.xml" Id="R35cc353b8c374d5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b335acc69aa4ed5" /><Relationship Type="http://schemas.openxmlformats.org/officeDocument/2006/relationships/notesSlide" Target="/ppt/notesSlides/notesSlide10.xml" Id="R9685cb5d09ff42b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13263B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A1FDD63-2576-4BC2-B847-1F09C866D8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095500"/>
            <a:ext cx="109728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61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61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SENTRY SWM-2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5C77AAD-E7E6-489A-AD84-F64EE7949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86150"/>
            <a:ext cx="109728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0">
                <a:solidFill>
                  <a:srgbClr val="6DE0D3"/>
                </a:solidFill>
                <a:latin typeface="Arial"/>
                <a:ea typeface="Arial"/>
                <a:cs typeface="Arial"/>
              </a:defRPr>
            </a:pPr>
            <a:r>
              <a:rPr sz="2550" b="0">
                <a:solidFill>
                  <a:srgbClr val="6DE0D3"/>
                </a:solidFill>
                <a:latin typeface="Arial"/>
                <a:ea typeface="Arial"/>
                <a:cs typeface="Arial"/>
              </a:rPr>
              <a:t>2.1.0 stable → 2.3.0 beta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EF16DE-5D2D-4F48-A076-C3E1FD2CF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C6D4E1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C6D4E1"/>
                </a:solidFill>
                <a:latin typeface="Arial"/>
                <a:ea typeface="Arial"/>
                <a:cs typeface="Arial"/>
              </a:rPr>
              <a:t>Embedded QA Engineer · Курсовий проєкт</a:t>
            </a:r>
          </a:p>
        </p:txBody>
      </p:sp>
    </p:spTree>
    <p:extLst>
      <p:ext uri="{BB962C8B-B14F-4D97-AF65-F5344CB8AC3E}">
        <p14:creationId xmlns:p14="http://schemas.microsoft.com/office/powerpoint/2010/main" val="145937207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E0F867E-6F43-4F5B-A2A0-B8E79F8CD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Об’єкт тестування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FC92043-31C5-4579-90CC-0E593B304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52575"/>
            <a:ext cx="7048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0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30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ESP32-S3 N16R8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482D59-1B7D-43CB-8860-4D2ECF0D5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00300"/>
            <a:ext cx="70485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Прошивка SENTRY SWM-2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133CC64-5115-4246-A1DF-9BB8C5826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62300"/>
            <a:ext cx="7048500" cy="1352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Навчальна модель гідроакустичної вахти:</a:t>
            </a:r>
          </a:p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сонар, реле, RGB-лампа, телеметрія</a:t>
            </a:r>
          </a:p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та сповіщення.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C4CF2D0-8D88-4F28-958B-2E8414154B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43450"/>
            <a:ext cx="7048500" cy="5429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32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2.1.0 stable та 2.3.0 beta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692D35-5D9B-4870-8B2D-8C993DBB24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76875"/>
            <a:ext cx="7048500" cy="828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Очікувана поведінка — PRD.md</a:t>
            </a:r>
          </a:p>
          <a:p xmlns:a="http://schemas.openxmlformats.org/drawingml/2006/main">
            <a:pPr>
              <a:buNone/>
              <a:defRPr sz="202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Керування через UART 115200 8N1</a:t>
            </a:r>
          </a:p>
        </p:txBody>
      </p:sp>
      <p:pic>
        <p:nvPic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661C429-7953-46D8-BA49-2E63FED7A5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025be20eff74ea1"/>
          <a:stretch xmlns:a="http://schemas.openxmlformats.org/drawingml/2006/main"/>
        </p:blipFill>
        <p:spPr>
          <a:xfrm xmlns:a="http://schemas.openxmlformats.org/drawingml/2006/main">
            <a:off x="8143875" y="1558925"/>
            <a:ext cx="3333750" cy="4445000"/>
          </a:xfrm>
          <a:prstGeom xmlns:a="http://schemas.openxmlformats.org/drawingml/2006/main" prst="rect">
            <a:avLst/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FD0DAD6-9826-4B1C-B16A-668285B8D5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17445107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CE67E86-1CD3-4F19-9F02-CA7366F0F7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Функції під тестуванням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CED9320-24F0-4F85-985B-CBBEF5EF86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3689B30-9903-495F-B143-38D8BAE155D6}"/>
              </a:ext>
            </a:extLst>
          </p:cNvPr>
          <p:cNvGraphicFramePr/>
          <p:nvPr/>
        </p:nvGraphicFramePr>
        <p:xfrm>
          <a:off xmlns:a="http://schemas.openxmlformats.org/drawingml/2006/main" x="609600" y="1562100"/>
          <a:ext xmlns:a="http://schemas.openxmlformats.org/drawingml/2006/main" cx="10972800" cy="3467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286000"/>
                <a:gridCol w="6381750"/>
                <a:gridCol w="2305050"/>
              </a:tblGrid>
              <a:tr h="577850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Фіча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Основні перевірки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Auto-кейси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Лампа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RGB, яскравість, таймер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8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Реле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Стан, pulse, schedule, cycles, NVS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Телеметрія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Поля, межі інтервалу, off, NVS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Акаунт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Вхід, lockout, пароль, logout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77850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Alert center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E099 у stable; test, ack, clear у beta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0C42C84-87A2-4321-9490-5CA67C695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43525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32 автоматизовані кейси</a:t>
            </a:r>
          </a:p>
        </p:txBody>
      </p:sp>
    </p:spTree>
    <p:extLst>
      <p:ext uri="{BB962C8B-B14F-4D97-AF65-F5344CB8AC3E}">
        <p14:creationId xmlns:p14="http://schemas.microsoft.com/office/powerpoint/2010/main" val="950118753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F2D1808-9453-4428-B979-EB6572748B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Фреймворк і реальний UART-стенд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1C4F18D-364B-4888-A659-2C30D36DE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0D483DC-E399-4EB1-B858-C741B9C2E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859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pytest → фікстури → UART-драйвер → ESP32-S3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54F991F-C478-41CF-831B-8FA2F6CED9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44792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Підключення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8FCBAA-5491-400E-A203-1BAD4B23B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390775"/>
            <a:ext cx="7715250" cy="819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Mac, USB/UART 115200 8N1</a:t>
            </a:r>
          </a:p>
          <a:p xmlns:a="http://schemas.openxmlformats.org/drawingml/2006/main">
            <a:pPr>
              <a:buNone/>
              <a:defRPr sz="21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Автопошук порта за VID 1A86 або --port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3F9F76F-04FF-474C-A696-ABDDDC6091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0045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Фікстури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61C11A2-D96A-4A59-ABB8-B6B442924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3533775"/>
            <a:ext cx="771525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dut: одна сесія UART, версія й авторизація</a:t>
            </a:r>
          </a:p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device: передумови, лог і очищення кожного кейсу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1EE41E2-818E-4591-B3CD-A15F69782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67275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Докази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1C12269-0C8C-4EF3-85AB-39215FA54F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800600"/>
            <a:ext cx="77152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Окремі TX/RX-логи з часовими мітками</a:t>
            </a:r>
          </a:p>
          <a:p xmlns:a="http://schemas.openxmlformats.org/drawingml/2006/main">
            <a:pPr>
              <a:buNone/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Паролі приховуються; JSON, Markdown і JUnit-звіти</a:t>
            </a:r>
          </a:p>
        </p:txBody>
      </p:sp>
    </p:spTree>
    <p:extLst>
      <p:ext uri="{BB962C8B-B14F-4D97-AF65-F5344CB8AC3E}">
        <p14:creationId xmlns:p14="http://schemas.microsoft.com/office/powerpoint/2010/main" val="1247891015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stand-title">
            <a:extLst xmlns:a="http://schemas.openxmlformats.org/drawingml/2006/main">
              <a:ext uri="{FF2B5EF4-FFF2-40B4-BE49-F238E27FC236}">
                <a16:creationId xmlns:a16="http://schemas.microsoft.com/office/drawing/2014/main" id="{B29D2C40-6BDD-4317-8D3A-5464206F1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Реальний стенд для ручних перевірок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ED0CDF1-601D-44E6-BE6B-6339124FA95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095fbb25524d53"/>
          <a:stretch xmlns:a="http://schemas.openxmlformats.org/drawingml/2006/main"/>
        </p:blipFill>
        <p:spPr>
          <a:xfrm xmlns:a="http://schemas.openxmlformats.org/drawingml/2006/main">
            <a:off x="609600" y="1402420"/>
            <a:ext cx="4133850" cy="4872309"/>
          </a:xfrm>
          <a:prstGeom xmlns:a="http://schemas.openxmlformats.org/drawingml/2006/main" prst="rect">
            <a:avLst/>
          </a:prstGeom>
        </p:spPr>
      </p:pic>
      <p:sp>
        <p:nvSpPr>
          <p:cNvPr id="3" name="dut-heading">
            <a:extLst xmlns:a="http://schemas.openxmlformats.org/drawingml/2006/main">
              <a:ext uri="{FF2B5EF4-FFF2-40B4-BE49-F238E27FC236}">
                <a16:creationId xmlns:a16="http://schemas.microsoft.com/office/drawing/2014/main" id="{1BC5121E-AFE5-4ED0-A8D5-C3BBBEA1C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438275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40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ESP32-S3 N16R8</a:t>
            </a:r>
          </a:p>
        </p:txBody>
      </p:sp>
      <p:sp>
        <p:nvSpPr>
          <p:cNvPr id="4" name="dut-description">
            <a:extLst xmlns:a="http://schemas.openxmlformats.org/drawingml/2006/main">
              <a:ext uri="{FF2B5EF4-FFF2-40B4-BE49-F238E27FC236}">
                <a16:creationId xmlns:a16="http://schemas.microsoft.com/office/drawing/2014/main" id="{5AA0105D-94E9-417E-A8FD-F89FD18B62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1895475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Прошивка SENTRY, USB/UART із Mac</a:t>
            </a:r>
          </a:p>
        </p:txBody>
      </p:sp>
      <p:sp>
        <p:nvSpPr>
          <p:cNvPr id="5" name="relay-heading">
            <a:extLst xmlns:a="http://schemas.openxmlformats.org/drawingml/2006/main">
              <a:ext uri="{FF2B5EF4-FFF2-40B4-BE49-F238E27FC236}">
                <a16:creationId xmlns:a16="http://schemas.microsoft.com/office/drawing/2014/main" id="{E162B4AF-47F6-479C-8509-82B8601F3B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552700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Raspberry Pi 5 та реле 5 В</a:t>
            </a:r>
          </a:p>
        </p:txBody>
      </p:sp>
      <p:sp>
        <p:nvSpPr>
          <p:cNvPr id="6" name="relay-description">
            <a:extLst xmlns:a="http://schemas.openxmlformats.org/drawingml/2006/main">
              <a:ext uri="{FF2B5EF4-FFF2-40B4-BE49-F238E27FC236}">
                <a16:creationId xmlns:a16="http://schemas.microsoft.com/office/drawing/2014/main" id="{79660A30-1326-49C1-9DDD-1E254FEE54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2990850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95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Pi живить модуль, GPIO8 ESP32 керує IN</a:t>
            </a:r>
          </a:p>
        </p:txBody>
      </p:sp>
      <p:sp>
        <p:nvSpPr>
          <p:cNvPr id="7" name="inputs-heading">
            <a:extLst xmlns:a="http://schemas.openxmlformats.org/drawingml/2006/main">
              <a:ext uri="{FF2B5EF4-FFF2-40B4-BE49-F238E27FC236}">
                <a16:creationId xmlns:a16="http://schemas.microsoft.com/office/drawing/2014/main" id="{D4C1686A-ACEC-427E-827F-C464748108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3629025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Датчик відстані та кнопки</a:t>
            </a:r>
          </a:p>
        </p:txBody>
      </p:sp>
      <p:sp>
        <p:nvSpPr>
          <p:cNvPr id="8" name="led-description">
            <a:extLst xmlns:a="http://schemas.openxmlformats.org/drawingml/2006/main">
              <a:ext uri="{FF2B5EF4-FFF2-40B4-BE49-F238E27FC236}">
                <a16:creationId xmlns:a16="http://schemas.microsoft.com/office/drawing/2014/main" id="{2C087EBE-A7CA-4787-A5B9-A13F741E3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076700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Зовнішній LED із резистором 220 Ом</a:t>
            </a:r>
          </a:p>
        </p:txBody>
      </p:sp>
      <p:sp>
        <p:nvSpPr>
          <p:cNvPr id="9" name="meter-heading">
            <a:extLst xmlns:a="http://schemas.openxmlformats.org/drawingml/2006/main">
              <a:ext uri="{FF2B5EF4-FFF2-40B4-BE49-F238E27FC236}">
                <a16:creationId xmlns:a16="http://schemas.microsoft.com/office/drawing/2014/main" id="{0F08424F-21F3-4255-8F5B-8D716204AE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4724400"/>
            <a:ext cx="636270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2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Мультиметр: прозвонювання</a:t>
            </a:r>
          </a:p>
        </p:txBody>
      </p:sp>
      <p:sp>
        <p:nvSpPr>
          <p:cNvPr id="10" name="meter-description">
            <a:extLst xmlns:a="http://schemas.openxmlformats.org/drawingml/2006/main">
              <a:ext uri="{FF2B5EF4-FFF2-40B4-BE49-F238E27FC236}">
                <a16:creationId xmlns:a16="http://schemas.microsoft.com/office/drawing/2014/main" id="{37D72907-B7EC-413D-B86B-21E301264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172075"/>
            <a:ext cx="6362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2025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Перевірка контактів COM–NO та COM–NC</a:t>
            </a:r>
          </a:p>
        </p:txBody>
      </p:sp>
      <p:sp>
        <p:nvSpPr>
          <p:cNvPr id="11" name="photo-caption">
            <a:extLst xmlns:a="http://schemas.openxmlformats.org/drawingml/2006/main">
              <a:ext uri="{FF2B5EF4-FFF2-40B4-BE49-F238E27FC236}">
                <a16:creationId xmlns:a16="http://schemas.microsoft.com/office/drawing/2014/main" id="{A5BA7A16-B6DD-4E6B-A1A2-FA2DEAE8C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19700" y="5772150"/>
            <a:ext cx="6362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Фото стенда від 24.10.2026. Результати</a:t>
            </a:r>
          </a:p>
          <a:p xmlns:a="http://schemas.openxmlformats.org/drawingml/2006/main">
            <a:pPr>
              <a:defRPr sz="16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фізичних перевірок фіксуються в журналі.</a:t>
            </a:r>
          </a:p>
        </p:txBody>
      </p:sp>
      <p:sp>
        <p:nvSpPr>
          <p:cNvPr id="12" name="page-number">
            <a:extLst xmlns:a="http://schemas.openxmlformats.org/drawingml/2006/main">
              <a:ext uri="{FF2B5EF4-FFF2-40B4-BE49-F238E27FC236}">
                <a16:creationId xmlns:a16="http://schemas.microsoft.com/office/drawing/2014/main" id="{2FFD87F2-D063-4EC0-916B-2D36E8CAC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946058966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F7C233-9C88-4798-8D8A-D7AF4631A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Тест-дизайн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43A3779-A124-4C33-BABA-1D0C6153F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F2877B-250F-4D7D-8CE0-598DA2D7D333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6479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429000"/>
                <a:gridCol w="3771900"/>
                <a:gridCol w="3771900"/>
              </a:tblGrid>
              <a:tr h="661988"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Перевірка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Допустимі значення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За межами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relay pulse, мс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100, 1000, 10000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−1, 0, 99, 10001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health interval, с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10, 300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9, 301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661988"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Довжина пароля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6, 32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5, 33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786E1EC-48C0-4E2C-95B5-C5E838E44F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76775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Переходи станів: on / off / toggle, lockout та clear alerts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E2A2F-A658-491A-81D8-EF4058A7D9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410200"/>
            <a:ext cx="106680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Збереження після reboot: cycles, інтервал health, пароль</a:t>
            </a:r>
          </a:p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Кожен параметр має власний результат і повний UART-лог.</a:t>
            </a:r>
          </a:p>
        </p:txBody>
      </p:sp>
    </p:spTree>
    <p:extLst>
      <p:ext uri="{BB962C8B-B14F-4D97-AF65-F5344CB8AC3E}">
        <p14:creationId xmlns:p14="http://schemas.microsoft.com/office/powerpoint/2010/main" val="1148213100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AC76F4E-F38A-4109-946F-52E99C73FC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Результати двох версій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AD9992F1-5B57-4B57-93D8-0F6F7CA20E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B24C05-287E-41AC-A2B1-C4AE15ED731D}"/>
              </a:ext>
            </a:extLst>
          </p:cNvPr>
          <p:cNvGraphicFramePr/>
          <p:nvPr/>
        </p:nvGraphicFramePr>
        <p:xfrm>
          <a:off xmlns:a="http://schemas.openxmlformats.org/drawingml/2006/main" x="609600" y="1657350"/>
          <a:ext xmlns:a="http://schemas.openxmlformats.org/drawingml/2006/main" cx="10972800" cy="2171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810000"/>
                <a:gridCol w="1790700"/>
                <a:gridCol w="1790700"/>
                <a:gridCol w="1790700"/>
                <a:gridCol w="1790700"/>
              </a:tblGrid>
              <a:tr h="723900"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Версія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Pass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Fail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Blocked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2.1.0 stable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57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7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23900"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2.3.0 beta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63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4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217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55D17CD-8EF4-4B08-B80D-CF4226F31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76725"/>
            <a:ext cx="109728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70 автоматизованих варіантів на версію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C5E2A8-FD7A-4471-9804-94B210CB5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10668000" cy="8858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N/A — сценарії, які не застосовуються до цієї версії.</a:t>
            </a:r>
          </a:p>
          <a:p xmlns:a="http://schemas.openxmlformats.org/drawingml/2006/main">
            <a:pPr>
              <a:buNone/>
              <a:defRPr sz="19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9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Повторні відтворення не збільшують підсумок основних прогонів.</a:t>
            </a:r>
          </a:p>
        </p:txBody>
      </p:sp>
    </p:spTree>
    <p:extLst>
      <p:ext uri="{BB962C8B-B14F-4D97-AF65-F5344CB8AC3E}">
        <p14:creationId xmlns:p14="http://schemas.microsoft.com/office/powerpoint/2010/main" val="2096005861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51D2CEA-CA20-4678-983B-5A9FD8AA1C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Шість знайдених дефектів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ACD8289-97B4-483E-ABB3-1D650861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C4E020B-F359-4082-827F-093CC4D2A076}"/>
              </a:ext>
            </a:extLst>
          </p:cNvPr>
          <p:cNvGraphicFramePr/>
          <p:nvPr/>
        </p:nvGraphicFramePr>
        <p:xfrm>
          <a:off xmlns:a="http://schemas.openxmlformats.org/drawingml/2006/main" x="609600" y="1533525"/>
          <a:ext xmlns:a="http://schemas.openxmlformats.org/drawingml/2006/main" cx="10972800" cy="3943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6286500"/>
                <a:gridCol w="1628775"/>
                <a:gridCol w="1628775"/>
              </a:tblGrid>
              <a:tr h="563336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ID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Проблема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2.1.0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</a:rPr>
                        <a:t>2.3.0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T w="9525">
                      <a:solidFill>
                        <a:srgbClr val="D9E1EA"/>
                      </a:solidFill>
                      <a:prstDash val="solid"/>
                    </a:lnT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182D45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LM-01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lamp timer: ms у повідомленні замість 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pulse 99 виконується замість E603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RL-02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Одне перемикання додає 2 до cycles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HL-01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Допустимий health interval 300 відхиляється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AU-01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Новий пароль не зберігається після reboot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Не відтв.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563336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AL-01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9E1EA"/>
                      </a:solidFill>
                      <a:prstDash val="solid"/>
                    </a:lnL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Наявний alert ID відхиляється з E851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N/A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82D45"/>
                          </a:solidFill>
                          <a:latin typeface="Arial"/>
                          <a:ea typeface="Arial"/>
                          <a:cs typeface="Arial"/>
                        </a:rPr>
                        <a:t>Є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9E1EA"/>
                      </a:solidFill>
                      <a:prstDash val="solid"/>
                    </a:lnR>
                    <a:lnB w="9525">
                      <a:solidFill>
                        <a:srgbClr val="D9E1EA"/>
                      </a:solidFill>
                      <a:prstDash val="solid"/>
                    </a:lnB>
                    <a:solidFill>
                      <a:srgbClr val="F1F5F8"/>
                    </a:solidFill>
                  </a:tcPr>
                </a:tc>
              </a:tr>
            </a:tbl>
          </a:graphicData>
        </a:graphic>
      </p:graphicFrame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93AE58-D6D2-48EC-A72B-F375978519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29300"/>
            <a:ext cx="1066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75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875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Повні ID мають префікс BUG-. У beta лишаються RL-01 та AL-01.</a:t>
            </a:r>
          </a:p>
        </p:txBody>
      </p:sp>
    </p:spTree>
    <p:extLst>
      <p:ext uri="{BB962C8B-B14F-4D97-AF65-F5344CB8AC3E}">
        <p14:creationId xmlns:p14="http://schemas.microsoft.com/office/powerpoint/2010/main" val="353253978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B448332-4F00-4DEA-99FE-47601CD663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Теоретичний HIL-стенд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4E2F06-CDF0-4CB2-95CC-2457632C9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09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21C8953-6CFF-4227-9D44-D19AABF712F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8342c4756d47d6"/>
          <a:stretch xmlns:a="http://schemas.openxmlformats.org/drawingml/2006/main"/>
        </p:blipFill>
        <p:spPr>
          <a:xfrm xmlns:a="http://schemas.openxmlformats.org/drawingml/2006/main">
            <a:off x="381000" y="1201189"/>
            <a:ext cx="8039100" cy="5408122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1A6FA4-73FF-4270-A6FC-0C634C7448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657350"/>
            <a:ext cx="295275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Raspberry Pi + pytest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2D2F1B1-D5ED-4834-8D86-6F0688E4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670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RP2040: кнопки</a:t>
            </a:r>
          </a:p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та ECHO сонара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7AF85F2-6EDE-4965-B382-B270AECE2D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386715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Реле → макет клапана</a:t>
            </a:r>
          </a:p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MG90S + кінцевики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A84869C-C665-4725-9F6C-E4E2D2FEA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5143500"/>
            <a:ext cx="29527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CI зберігає докази;</a:t>
            </a:r>
          </a:p>
          <a:p xmlns:a="http://schemas.openxmlformats.org/drawingml/2006/main">
            <a:pPr>
              <a:buNone/>
              <a:defRPr sz="1800" b="0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1800" b="0">
                <a:solidFill>
                  <a:srgbClr val="182D45"/>
                </a:solidFill>
                <a:latin typeface="Arial"/>
                <a:ea typeface="Arial"/>
                <a:cs typeface="Arial"/>
              </a:rPr>
              <a:t>Mosquitto передає події</a:t>
            </a:r>
          </a:p>
        </p:txBody>
      </p:sp>
    </p:spTree>
    <p:extLst>
      <p:ext uri="{BB962C8B-B14F-4D97-AF65-F5344CB8AC3E}">
        <p14:creationId xmlns:p14="http://schemas.microsoft.com/office/powerpoint/2010/main" val="1928677039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D821F03-8643-4692-89AE-A5E3A1CEDD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330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330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Висновок щодо 2.3.0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771CCDF-DAB4-409F-9ED5-13AF7C40C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20450" y="6438900"/>
            <a:ext cx="4572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10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4299937-A8B5-47EA-9E71-F2F3A9F699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14475"/>
            <a:ext cx="109728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5700" b="1">
                <a:solidFill>
                  <a:srgbClr val="B42336"/>
                </a:solidFill>
                <a:latin typeface="Arial"/>
                <a:ea typeface="Arial"/>
                <a:cs typeface="Arial"/>
              </a:defRPr>
            </a:pPr>
            <a:r>
              <a:rPr sz="5700" b="1">
                <a:solidFill>
                  <a:srgbClr val="B42336"/>
                </a:solidFill>
                <a:latin typeface="Arial"/>
                <a:ea typeface="Arial"/>
                <a:cs typeface="Arial"/>
              </a:rPr>
              <a:t>NO-GO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11F1C28-B87A-4CB8-9AD2-056E36664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14625"/>
            <a:ext cx="109728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Недопустимий pulse 99 виконується</a:t>
            </a:r>
          </a:p>
          <a:p xmlns:a="http://schemas.openxmlformats.org/drawingml/2006/main">
            <a:pPr>
              <a:buNone/>
              <a:defRPr sz="2550" b="1">
                <a:solidFill>
                  <a:srgbClr val="182D45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82D45"/>
                </a:solidFill>
                <a:latin typeface="Arial"/>
                <a:ea typeface="Arial"/>
                <a:cs typeface="Arial"/>
              </a:rPr>
              <a:t>Підтвердження наявного alert за ID не працює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841F51-0499-4005-BA9B-08C70FE1E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15075"/>
            <a:ext cx="104775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1725" b="0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1725" b="0">
                <a:solidFill>
                  <a:srgbClr val="087F8C"/>
                </a:solidFill>
                <a:latin typeface="Arial"/>
                <a:ea typeface="Arial"/>
                <a:cs typeface="Arial"/>
              </a:rPr>
              <a:t>github.com/rpozniak/sentry-swm2-qa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43CD1-3B85-4DFB-852F-F0657BCF7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91025"/>
            <a:ext cx="10972800" cy="561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087F8C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087F8C"/>
                </a:solidFill>
                <a:latin typeface="Arial"/>
                <a:ea typeface="Arial"/>
                <a:cs typeface="Arial"/>
              </a:rPr>
              <a:t>Чотири дефекти 2.1.0 у beta не відтворились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85477C-DC3C-4C43-8502-8D56F6F208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109728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/>
          <a:lstStyle xmlns:a="http://schemas.openxmlformats.org/drawingml/2006/main">
            <a:defPPr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defPPr>
            <a:lvl1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1pPr>
            <a:lvl2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2pPr>
            <a:lvl3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3pPr>
            <a:lvl4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4pPr>
            <a:lvl5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5pPr>
            <a:lvl6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6pPr>
            <a:lvl7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7pPr>
            <a:lvl8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8pPr>
            <a:lvl9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lvl9pPr>
          </a:lstStyle>
          <a:p xmlns:a="http://schemas.openxmlformats.org/drawingml/2006/main">
            <a: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Рекомендація: виправити pulse та ack за ID,</a:t>
            </a:r>
          </a:p>
          <a:p xmlns:a="http://schemas.openxmlformats.org/drawingml/2006/main">
            <a:pPr>
              <a:buNone/>
              <a:defRPr sz="2100" b="0">
                <a:solidFill>
                  <a:srgbClr val="566A80"/>
                </a:solidFill>
                <a:latin typeface="Arial"/>
                <a:ea typeface="Arial"/>
                <a:cs typeface="Arial"/>
              </a:defRPr>
            </a:pPr>
            <a:r>
              <a:rPr sz="2100" b="0">
                <a:solidFill>
                  <a:srgbClr val="566A80"/>
                </a:solidFill>
                <a:latin typeface="Arial"/>
                <a:ea typeface="Arial"/>
                <a:cs typeface="Arial"/>
              </a:rPr>
              <a:t>після цього повторити відповідні перевірки й регресію.</a:t>
            </a:r>
          </a:p>
        </p:txBody>
      </p:sp>
    </p:spTree>
    <p:extLst>
      <p:ext uri="{BB962C8B-B14F-4D97-AF65-F5344CB8AC3E}">
        <p14:creationId xmlns:p14="http://schemas.microsoft.com/office/powerpoint/2010/main" val="1965201007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2026-10-24T20:43:43.8830000Z</dcterms:created>
  <dcterms:modified xsi:type="dcterms:W3CDTF">2026-10-24T20:43:43.8830000Z</dcterms:modified>
</coreProperties>
</file>