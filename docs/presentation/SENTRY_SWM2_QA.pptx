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529c3211ec40cf" /><Relationship Type="http://schemas.openxmlformats.org/officeDocument/2006/relationships/extended-properties" Target="/docProps/app.xml" Id="Rd8ce073d3c484110" /><Relationship Type="http://schemas.openxmlformats.org/officeDocument/2006/relationships/officeDocument" Target="/ppt/presentation.xml" Id="R74aa04e324b44d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f9fa88be9242f7"/>
  </p:sldMasterIdLst>
  <p:notesMasterIdLst>
    <p:notesMasterId xmlns:r="http://schemas.openxmlformats.org/officeDocument/2006/relationships" r:id="R660f3797b90b4fa1"/>
  </p:notesMasterIdLst>
  <p:sldIdLst>
    <p:sldId xmlns:r="http://schemas.openxmlformats.org/officeDocument/2006/relationships" id="256" r:id="Ra89fc4790af644e4"/>
    <p:sldId xmlns:r="http://schemas.openxmlformats.org/officeDocument/2006/relationships" id="257" r:id="Rdedaef74a06e44cf"/>
    <p:sldId xmlns:r="http://schemas.openxmlformats.org/officeDocument/2006/relationships" id="258" r:id="R5b7d6e6196064055"/>
    <p:sldId xmlns:r="http://schemas.openxmlformats.org/officeDocument/2006/relationships" id="259" r:id="Rdb705af8864a4bc8"/>
    <p:sldId xmlns:r="http://schemas.openxmlformats.org/officeDocument/2006/relationships" id="260" r:id="Rc5c493d582fd410e"/>
    <p:sldId xmlns:r="http://schemas.openxmlformats.org/officeDocument/2006/relationships" id="261" r:id="R85c7114952f340ea"/>
    <p:sldId xmlns:r="http://schemas.openxmlformats.org/officeDocument/2006/relationships" id="262" r:id="R9e6dbc3f16bd4cae"/>
    <p:sldId xmlns:r="http://schemas.openxmlformats.org/officeDocument/2006/relationships" id="263" r:id="R929f180b738b4dcc"/>
    <p:sldId xmlns:r="http://schemas.openxmlformats.org/officeDocument/2006/relationships" id="264" r:id="Ra91fd3ec26ef481e"/>
    <p:sldId xmlns:r="http://schemas.openxmlformats.org/officeDocument/2006/relationships" id="265" r:id="Rabf8ea1321604fd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b8b9d5714446b4" /><Relationship Type="http://schemas.openxmlformats.org/officeDocument/2006/relationships/slideMaster" Target="/ppt/slideMasters/slideMaster1.xml" Id="Ra9f9fa88be9242f7" /><Relationship Type="http://schemas.openxmlformats.org/officeDocument/2006/relationships/notesMaster" Target="/ppt/notesMasters/notesMaster1.xml" Id="R660f3797b90b4fa1" /><Relationship Type="http://schemas.openxmlformats.org/officeDocument/2006/relationships/presProps" Target="/ppt/presProps.xml" Id="R5cfff5452a304ff2" /><Relationship Type="http://schemas.openxmlformats.org/officeDocument/2006/relationships/tableStyles" Target="/ppt/tableStyles.xml" Id="Ra2103a81a86543e7" /><Relationship Type="http://schemas.openxmlformats.org/officeDocument/2006/relationships/slide" Target="/ppt/slides/slide1.xml" Id="Ra89fc4790af644e4" /><Relationship Type="http://schemas.openxmlformats.org/officeDocument/2006/relationships/slide" Target="/ppt/slides/slide2.xml" Id="Rdedaef74a06e44cf" /><Relationship Type="http://schemas.openxmlformats.org/officeDocument/2006/relationships/slide" Target="/ppt/slides/slide3.xml" Id="R5b7d6e6196064055" /><Relationship Type="http://schemas.openxmlformats.org/officeDocument/2006/relationships/slide" Target="/ppt/slides/slide4.xml" Id="Rdb705af8864a4bc8" /><Relationship Type="http://schemas.openxmlformats.org/officeDocument/2006/relationships/slide" Target="/ppt/slides/slide5.xml" Id="Rc5c493d582fd410e" /><Relationship Type="http://schemas.openxmlformats.org/officeDocument/2006/relationships/slide" Target="/ppt/slides/slide6.xml" Id="R85c7114952f340ea" /><Relationship Type="http://schemas.openxmlformats.org/officeDocument/2006/relationships/slide" Target="/ppt/slides/slide7.xml" Id="R9e6dbc3f16bd4cae" /><Relationship Type="http://schemas.openxmlformats.org/officeDocument/2006/relationships/slide" Target="/ppt/slides/slide8.xml" Id="R929f180b738b4dcc" /><Relationship Type="http://schemas.openxmlformats.org/officeDocument/2006/relationships/slide" Target="/ppt/slides/slide9.xml" Id="Ra91fd3ec26ef481e" /><Relationship Type="http://schemas.openxmlformats.org/officeDocument/2006/relationships/slide" Target="/ppt/slides/slide10.xml" Id="Rabf8ea1321604f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204ea3725647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88d9d6f67f4b86" /><Relationship Type="http://schemas.openxmlformats.org/officeDocument/2006/relationships/notesMaster" Target="/ppt/notesMasters/notesMaster1.xml" Id="R3d661365846349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f401da97ec45ee" /><Relationship Type="http://schemas.openxmlformats.org/officeDocument/2006/relationships/notesMaster" Target="/ppt/notesMasters/notesMaster1.xml" Id="R21108fd26e2746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5a5be5fdfd4497" /><Relationship Type="http://schemas.openxmlformats.org/officeDocument/2006/relationships/notesMaster" Target="/ppt/notesMasters/notesMaster1.xml" Id="Rcaf35904c62541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bbf4c5d0af4356" /><Relationship Type="http://schemas.openxmlformats.org/officeDocument/2006/relationships/notesMaster" Target="/ppt/notesMasters/notesMaster1.xml" Id="Rdf8c335fa8ab46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d5eeb68aea34957" /><Relationship Type="http://schemas.openxmlformats.org/officeDocument/2006/relationships/notesMaster" Target="/ppt/notesMasters/notesMaster1.xml" Id="R54d621dc5e5e42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a66f810d0047c9" /><Relationship Type="http://schemas.openxmlformats.org/officeDocument/2006/relationships/notesMaster" Target="/ppt/notesMasters/notesMaster1.xml" Id="Rd111e6a8423843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7bf4ea14aa4e16" /><Relationship Type="http://schemas.openxmlformats.org/officeDocument/2006/relationships/notesMaster" Target="/ppt/notesMasters/notesMaster1.xml" Id="R9d489054373449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ea92ef780049ab" /><Relationship Type="http://schemas.openxmlformats.org/officeDocument/2006/relationships/notesMaster" Target="/ppt/notesMasters/notesMaster1.xml" Id="R20d194f16c234f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64431501544e59" /><Relationship Type="http://schemas.openxmlformats.org/officeDocument/2006/relationships/notesMaster" Target="/ppt/notesMasters/notesMaster1.xml" Id="R5d44ebe76b2a44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b114afaeab4ec6" /><Relationship Type="http://schemas.openxmlformats.org/officeDocument/2006/relationships/notesMaster" Target="/ppt/notesMasters/notesMaster1.xml" Id="R56e65544c94340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https://github.com/rpozniak/sentry-swm2-qa/blob/main/reference/COURSEWORK.pdf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https://github.com/rpozniak/sentry-swm2-qa/blob/main/reference/PRD.md</a:t>
            </a:r>
          </a:p>
          <a:p xmlns:a="http://schemas.openxmlformats.org/drawingml/2006/main">
            <a:r>
              <a:t>Фото ESP32-S3 надане користувачем.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https://github.com/rpozniak/sentry-swm2-qa/blob/main/docs/TEST_PLAN.md</a:t>
            </a:r>
          </a:p>
          <a:p xmlns:a="http://schemas.openxmlformats.org/drawingml/2006/main">
            <a:r>
              <a:t>https://github.com/rpozniak/sentry-swm2-qa/blob/main/docs/TEST_CASES.md</a:t>
            </a:r>
          </a:p>
          <a:p xmlns:a="http://schemas.openxmlformats.org/drawingml/2006/main">
            <a:r>
              <a:t>https://github.com/rpozniak/sentry-swm2-qa/blob/main/reference/COURSEWORK_SCOPE.png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https://github.com/rpozniak/sentry-swm2-qa/blob/main/tests/README.md</a:t>
            </a:r>
          </a:p>
          <a:p xmlns:a="http://schemas.openxmlformats.org/drawingml/2006/main">
            <a:r>
              <a:t>https://github.com/rpozniak/sentry-swm2-qa/blob/main/conftest.py</a:t>
            </a:r>
          </a:p>
          <a:p xmlns:a="http://schemas.openxmlformats.org/drawingml/2006/main">
            <a:r>
              <a:t>https://github.com/rpozniak/sentry-swm2-qa/blob/main/framework/device_driver.py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Фото надав автор проєкту 24.10.2026. Оригінал: docs/assets/REAL_STAND_2026-10-24.jpg. Опис: docs/REAL_STAND.md. Автор підтвердив реле 5 В, Raspberry Pi 5, ESP32-S3, кнопки, датчик відстані, LED із резистором 220 Ом і мультиметр у режимі прозвонювання. Підключення за описом користувача: живлення модуля від Pi, IN з GPIO8 ESP32. Автор підтвердив відповідність перевірок контактів і зовнішнього LED очікуванням. Журнал: docs/MANUAL_RUN.md. Поточний ручний стенд відрізняється від проєкту подальшої HIL-автоматизації на окремому слайді.</a:t>
            </a:r>
          </a:p>
          <a:p xmlns:a="http://schemas.openxmlformats.org/drawingml/2006/main">
            <a:r>
              <a:t>Ручний прогін 2.3.0, 24.10.2026: TC-RL-02 і TC-RL-03 — Pass за повідомленням виконавця про відповідність усім умовам. Результат включає ON/OFF для обох пар COM–NO/COM–NC і зовнішнього LED. Фото стенда показує обладнання та LED при ON. Окремого UART-логу або відео прозвонювання не надано. Джерело: logs/manual-2.3.0-01/OPERATOR_REPORT.md. TC-LM-09 на 2.3.0 — Pass для восьми кольорів; TC-LM-10 — Not Run. На 2.1.0 усі чотири ручні кейси — Not Run. Підсумок за кейсами 2.3.0: 31 Pass, 3 Fail, 1 Not Run, 1 N/A. Автоматизовані результати та NO-GO не змінені.</a:t>
            </a:r>
          </a:p>
          <a:p xmlns:a="http://schemas.openxmlformats.org/drawingml/2006/main">
            <a:r>
              <a:t>Доповнення 24.10.2026: після інструкції пройти white, red, green, blue, yellow, purple, cyan та orange виконавець повідомив: «перевірив кольори, все ок. Зроби зміни». TC-LM-09 на поточній 2.3.0 — Pass для всіх восьми кольорів. Джерело: logs/manual-2.3.0-01/OPERATOR_REPORT.md, розділ TC-LM-09. Окремі фото або відео кольорів не надано. Залишився TC-LM-10 — яскравість у solid, blink, breathe та rainbow. На 2.1.0 ручні кейси залишаються Not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https://github.com/rpozniak/sentry-swm2-qa/blob/main/docs/TEST_CASES.md</a:t>
            </a:r>
          </a:p>
          <a:p xmlns:a="http://schemas.openxmlformats.org/drawingml/2006/main">
            <a:r>
              <a:t>https://github.com/rpozniak/sentry-swm2-qa/blob/main/docs/TRACEABILITY.md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https://github.com/rpozniak/sentry-swm2-qa/blob/main/docs/EXECUTION_RESULTS.md</a:t>
            </a:r>
          </a:p>
          <a:p xmlns:a="http://schemas.openxmlformats.org/drawingml/2006/main">
            <a:r>
              <a:t>Ручний прогін 2.3.0, 24.10.2026: TC-RL-02 і TC-RL-03 — Pass за повідомленням виконавця про відповідність усім умовам. Результат включає ON/OFF для обох пар COM–NO/COM–NC і зовнішнього LED. Фото стенда показує обладнання та LED при ON. Окремого UART-логу або відео прозвонювання не надано. Джерело: logs/manual-2.3.0-01/OPERATOR_REPORT.md. TC-LM-09 на 2.3.0 — Pass для восьми кольорів; TC-LM-10 — Not Run. На 2.1.0 усі чотири ручні кейси — Not Run. Підсумок за кейсами 2.3.0: 31 Pass, 3 Fail, 1 Not Run, 1 N/A. Автоматизовані результати та NO-GO не змінені.</a:t>
            </a:r>
          </a:p>
          <a:p xmlns:a="http://schemas.openxmlformats.org/drawingml/2006/main">
            <a:r>
              <a:t>Доповнення 24.10.2026: після інструкції пройти white, red, green, blue, yellow, purple, cyan та orange виконавець повідомив: «перевірив кольори, все ок. Зроби зміни». TC-LM-09 на поточній 2.3.0 — Pass для всіх восьми кольорів. Джерело: logs/manual-2.3.0-01/OPERATOR_REPORT.md, розділ TC-LM-09. Окремі фото або відео кольорів не надано. Залишився TC-LM-10 — яскравість у solid, blink, breathe та rainbow. На 2.1.0 ручні кейси залишаються Not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https://github.com/rpozniak/sentry-swm2-qa/blob/main/bugs/BUG-LM-01.md</a:t>
            </a:r>
          </a:p>
          <a:p xmlns:a="http://schemas.openxmlformats.org/drawingml/2006/main">
            <a:r>
              <a:t>https://github.com/rpozniak/sentry-swm2-qa/blob/main/bugs/BUG-RL-01.md</a:t>
            </a:r>
          </a:p>
          <a:p xmlns:a="http://schemas.openxmlformats.org/drawingml/2006/main">
            <a:r>
              <a:t>https://github.com/rpozniak/sentry-swm2-qa/blob/main/bugs/BUG-RL-02.md</a:t>
            </a:r>
          </a:p>
          <a:p xmlns:a="http://schemas.openxmlformats.org/drawingml/2006/main">
            <a:r>
              <a:t>https://github.com/rpozniak/sentry-swm2-qa/blob/main/bugs/BUG-HL-01.md</a:t>
            </a:r>
          </a:p>
          <a:p xmlns:a="http://schemas.openxmlformats.org/drawingml/2006/main">
            <a:r>
              <a:t>https://github.com/rpozniak/sentry-swm2-qa/blob/main/bugs/BUG-AU-01.md</a:t>
            </a:r>
          </a:p>
          <a:p xmlns:a="http://schemas.openxmlformats.org/drawingml/2006/main">
            <a:r>
              <a:t>https://github.com/rpozniak/sentry-swm2-qa/blob/main/bugs/BUG-AL-01.md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https://github.com/rpozniak/sentry-swm2-qa/blob/main/docs/HIL_STAND.md</a:t>
            </a:r>
          </a:p>
          <a:p xmlns:a="http://schemas.openxmlformats.org/drawingml/2006/main">
            <a:r>
              <a:t>https://github.com/rpozniak/sentry-swm2-qa/blob/main/reference/PRD.md</a:t>
            </a:r>
          </a:p>
          <a:p xmlns:a="http://schemas.openxmlformats.org/drawingml/2006/main">
            <a:r>
              <a:t>MG90S є допоміжним макетом приводу клапана. PWM формує агент RP2040; очікування для SENTRY визначені в PRD.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https://github.com/rpozniak/sentry-swm2-qa/blob/main/docs/TRACEABILITY.md</a:t>
            </a:r>
          </a:p>
          <a:p xmlns:a="http://schemas.openxmlformats.org/drawingml/2006/main">
            <a:r>
              <a:t>Ручний прогін 2.3.0, 24.10.2026: TC-RL-02 і TC-RL-03 — Pass за повідомленням виконавця про відповідність усім умовам. Результат включає ON/OFF для обох пар COM–NO/COM–NC і зовнішнього LED. Фото стенда показує обладнання та LED при ON. Окремого UART-логу або відео прозвонювання не надано. Джерело: logs/manual-2.3.0-01/OPERATOR_REPORT.md. TC-LM-09 на 2.3.0 — Pass для восьми кольорів; TC-LM-10 — Not Run. На 2.1.0 усі чотири ручні кейси — Not Run. Підсумок за кейсами 2.3.0: 31 Pass, 3 Fail, 1 Not Run, 1 N/A. Автоматизовані результати та NO-GO не змінені.</a:t>
            </a:r>
          </a:p>
          <a:p xmlns:a="http://schemas.openxmlformats.org/drawingml/2006/main">
            <a:r>
              <a:t>Доповнення 24.10.2026: після інструкції пройти white, red, green, blue, yellow, purple, cyan та orange виконавець повідомив: «перевірив кольори, все ок. Зроби зміни». TC-LM-09 на поточній 2.3.0 — Pass для всіх восьми кольорів. Джерело: logs/manual-2.3.0-01/OPERATOR_REPORT.md, розділ TC-LM-09. Окремі фото або відео кольорів не надано. Залишився TC-LM-10 — яскравість у solid, blink, breathe та rainbow. На 2.1.0 ручні кейси залишаються Not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6b4218ffac4a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6c9dcb11804c8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8a2fb14a046e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b2629541841f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9e25253c9f4f0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af9fbf89f746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434414-7FD2-4B3F-A4B0-8C31566208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36BE9FC-E4D5-48C0-8DC1-AB3D7D83098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C5B6052-41FD-459C-B93D-5E973952F1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6B88F1-5A24-4CBA-B441-97D51252E2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E1AE55F-5E87-44FB-954E-6BA0CEB42A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8FEEDC2-FAEB-4D12-A72A-E6F0F1359C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2092633-6D1E-4400-82DC-AB7962BBDA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B372027-34E7-4410-85B5-82E4EF199FD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B45107-C374-4874-AFEA-D6437E739B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C7EC32-CC10-4533-8D4E-8479219D2A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50c701c7014e99" /><Relationship Type="http://schemas.openxmlformats.org/officeDocument/2006/relationships/slideLayout" Target="/ppt/slideLayouts/slideLayout1.xml" Id="R6295f3aa632e4b6e" /><Relationship Type="http://schemas.openxmlformats.org/officeDocument/2006/relationships/slideLayout" Target="/ppt/slideLayouts/slideLayout2.xml" Id="R6ced7e40b92448fb" /><Relationship Type="http://schemas.openxmlformats.org/officeDocument/2006/relationships/slideLayout" Target="/ppt/slideLayouts/slideLayout3.xml" Id="Rfca98e8b03a547fb" /><Relationship Type="http://schemas.openxmlformats.org/officeDocument/2006/relationships/slideLayout" Target="/ppt/slideLayouts/slideLayout4.xml" Id="Ra8e14d8a24564df9" /><Relationship Type="http://schemas.openxmlformats.org/officeDocument/2006/relationships/slideLayout" Target="/ppt/slideLayouts/slideLayout5.xml" Id="R655cecf0931b4dc8" /><Relationship Type="http://schemas.openxmlformats.org/officeDocument/2006/relationships/slideLayout" Target="/ppt/slideLayouts/slideLayout6.xml" Id="R6ad261a8431b46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95f3aa632e4b6e"/>
    <p:sldLayoutId xmlns:r="http://schemas.openxmlformats.org/officeDocument/2006/relationships" id="2147483650" r:id="R6ced7e40b92448fb"/>
    <p:sldLayoutId xmlns:r="http://schemas.openxmlformats.org/officeDocument/2006/relationships" id="2147483651" r:id="Rfca98e8b03a547fb"/>
    <p:sldLayoutId xmlns:r="http://schemas.openxmlformats.org/officeDocument/2006/relationships" id="2147483652" r:id="Ra8e14d8a24564df9"/>
    <p:sldLayoutId xmlns:r="http://schemas.openxmlformats.org/officeDocument/2006/relationships" id="2147483653" r:id="R655cecf0931b4dc8"/>
    <p:sldLayoutId xmlns:r="http://schemas.openxmlformats.org/officeDocument/2006/relationships" id="2147483654" r:id="R6ad261a8431b46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771e5de57e421a" /><Relationship Type="http://schemas.openxmlformats.org/officeDocument/2006/relationships/notesSlide" Target="/ppt/notesSlides/notesSlide1.xml" Id="Rc99e557d2fb54f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91e0a081da4966" /><Relationship Type="http://schemas.openxmlformats.org/officeDocument/2006/relationships/image" Target="/ppt/media/image.jpeg" Id="R04a7ea5e76904f00" /><Relationship Type="http://schemas.openxmlformats.org/officeDocument/2006/relationships/notesSlide" Target="/ppt/notesSlides/notesSlide2.xml" Id="R7b9a9fce3c57489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9a552ab3c349c5" /><Relationship Type="http://schemas.openxmlformats.org/officeDocument/2006/relationships/notesSlide" Target="/ppt/notesSlides/notesSlide3.xml" Id="R66963a731667416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deb9dc02304537" /><Relationship Type="http://schemas.openxmlformats.org/officeDocument/2006/relationships/notesSlide" Target="/ppt/notesSlides/notesSlide4.xml" Id="R79ead45a50c14c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da79e00569436a" /><Relationship Type="http://schemas.openxmlformats.org/officeDocument/2006/relationships/image" Target="/ppt/media/image2.jpeg" Id="Rf179e6ed52c04930" /><Relationship Type="http://schemas.openxmlformats.org/officeDocument/2006/relationships/notesSlide" Target="/ppt/notesSlides/notesSlide5.xml" Id="R976a2b87e36e47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4abded37d344db" /><Relationship Type="http://schemas.openxmlformats.org/officeDocument/2006/relationships/notesSlide" Target="/ppt/notesSlides/notesSlide6.xml" Id="R17db44540a654a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981236c1d64f62" /><Relationship Type="http://schemas.openxmlformats.org/officeDocument/2006/relationships/notesSlide" Target="/ppt/notesSlides/notesSlide7.xml" Id="R2a33fd43491b46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32ed4f88c54f21" /><Relationship Type="http://schemas.openxmlformats.org/officeDocument/2006/relationships/notesSlide" Target="/ppt/notesSlides/notesSlide8.xml" Id="Re07e3cee9a1945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6d4182146d42c5" /><Relationship Type="http://schemas.openxmlformats.org/officeDocument/2006/relationships/image" Target="/ppt/media/image.png" Id="Rae0e6a056ab44e0f" /><Relationship Type="http://schemas.openxmlformats.org/officeDocument/2006/relationships/notesSlide" Target="/ppt/notesSlides/notesSlide9.xml" Id="R2fef8cd495964e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c2d80f4baa4ac1" /><Relationship Type="http://schemas.openxmlformats.org/officeDocument/2006/relationships/notesSlide" Target="/ppt/notesSlides/notesSlide10.xml" Id="R5a51bc69969d4f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6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FDD63-2576-4BC2-B847-1F09C866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SENTRY SWM-2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77AAD-E7E6-489A-AD84-F64EE794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6DE0D3"/>
                </a:solidFill>
                <a:latin typeface="Arial"/>
                <a:ea typeface="Arial"/>
                <a:cs typeface="Arial"/>
              </a:rPr>
              <a:t>2.1.0 stable → 2.3.0 beta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F16DE-5D2D-4F48-A076-C3E1FD2C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D4E1"/>
                </a:solidFill>
                <a:latin typeface="Arial"/>
                <a:ea typeface="Arial"/>
                <a:cs typeface="Arial"/>
              </a:rPr>
              <a:t>Embedded QA Engineer · Курсовий проєкт</a:t>
            </a:r>
          </a:p>
        </p:txBody>
      </p:sp>
    </p:spTree>
    <p:extLst>
      <p:ext uri="{BB962C8B-B14F-4D97-AF65-F5344CB8AC3E}">
        <p14:creationId xmlns:p14="http://schemas.microsoft.com/office/powerpoint/2010/main" val="14593720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F867E-6F43-4F5B-A2A0-B8E79F8C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Об’єкт тестування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C92043-31C5-4579-90CC-0E593B30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ESP32-S3 N16R8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482D59-1B7D-43CB-8860-4D2ECF0D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7048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Прошивка SENTRY SWM-2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33CC64-5115-4246-A1DF-9BB8C582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7048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Навчальна модель гідроакустичної вахти:</a:t>
            </a:r>
          </a:p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сонар, реле, RGB-лампа, телеметрія</a:t>
            </a:r>
          </a:p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та сповіщення.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CF2D0-8D88-4F28-958B-2E841415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7048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2.1.0 stable та 2.3.0 beta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692D35-5D9B-4870-8B2D-8C993DBB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704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Очікувана поведінка — PRD.md</a:t>
            </a:r>
          </a:p>
          <a:p xmlns:a="http://schemas.openxmlformats.org/drawingml/2006/main">
            <a: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Керування через UART 115200 8N1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75D36-6C8C-47A7-82F2-D3267436F3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7ea5e76904f00"/>
          <a:stretch xmlns:a="http://schemas.openxmlformats.org/drawingml/2006/main"/>
        </p:blipFill>
        <p:spPr>
          <a:xfrm xmlns:a="http://schemas.openxmlformats.org/drawingml/2006/main">
            <a:off x="8143875" y="1558925"/>
            <a:ext cx="3333750" cy="4445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0DAD6-9826-4B1C-B16A-668285B8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744510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67E86-1CD3-4F19-9F02-CA7366F0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Функції під тестуванням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D9320-24F0-4F85-985B-CBBEF5EF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72F97F-69E2-4737-A060-ECD51F31A832}"/>
              </a:ext>
            </a:extLst>
          </p:cNvPr>
          <p:cNvGraphicFramePr/>
          <p:nvPr/>
        </p:nvGraphicFramePr>
        <p:xfrm>
          <a:off xmlns:a="http://schemas.openxmlformats.org/drawingml/2006/main" x="609600" y="1562100"/>
          <a:ext xmlns:a="http://schemas.openxmlformats.org/drawingml/2006/main" cx="109728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6381750"/>
                <a:gridCol w="2305050"/>
              </a:tblGrid>
              <a:tr h="5778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Фіча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Основні перевірки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Auto-кейси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Лампа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RGB, яскравість, таймер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Реле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Стан, pulse, schedule, cycles, NVS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Телеметрія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Поля, межі інтервалу, off, NVS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Акаунт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Вхід, lockout, пароль, logout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Alert center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E099 у stable; test, ack, clear у beta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C42C84-87A2-4321-9490-5CA67C69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32 автоматизовані кейси</a:t>
            </a:r>
          </a:p>
        </p:txBody>
      </p:sp>
    </p:spTree>
    <p:extLst>
      <p:ext uri="{BB962C8B-B14F-4D97-AF65-F5344CB8AC3E}">
        <p14:creationId xmlns:p14="http://schemas.microsoft.com/office/powerpoint/2010/main" val="9501187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D1808-9453-4428-B979-EB657274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Фреймворк і реальний UART-стенд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4F18D-364B-4888-A659-2C30D36D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483DC-E399-4EB1-B858-C741B9C2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pytest → фікстури → UART-драйвер → ESP32-S3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F991F-C478-41CF-831B-8FA2F6CE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Підключення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FCBAA-5491-400E-A203-1BAD4B23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90775"/>
            <a:ext cx="771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Mac, USB/UART 115200 8N1</a:t>
            </a:r>
          </a:p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Автопошук порта за VID 1A86 або --port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9F76F-04FF-474C-A696-ABDDDC60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Фікстури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1C11A2-D96A-4A59-ABB8-B6B44292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33775"/>
            <a:ext cx="7715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dut: одна сесія UART, версія й авторизація</a:t>
            </a:r>
          </a:p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device: передумови, лог і очищення кожного кейсу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E41E2-818E-4591-B3CD-A15F6978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Докази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12269-0C8C-4EF3-85AB-39215FA5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7715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Окремі TX/RX-логи з часовими мітками</a:t>
            </a:r>
          </a:p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Паролі приховуються; JSON, Markdown і JUnit-звіти</a:t>
            </a:r>
          </a:p>
        </p:txBody>
      </p:sp>
    </p:spTree>
    <p:extLst>
      <p:ext uri="{BB962C8B-B14F-4D97-AF65-F5344CB8AC3E}">
        <p14:creationId xmlns:p14="http://schemas.microsoft.com/office/powerpoint/2010/main" val="12478910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nd-title">
            <a:extLst xmlns:a="http://schemas.openxmlformats.org/drawingml/2006/main">
              <a:ext uri="{FF2B5EF4-FFF2-40B4-BE49-F238E27FC236}">
                <a16:creationId xmlns:a16="http://schemas.microsoft.com/office/drawing/2014/main" id="{B29D2C40-6BDD-4317-8D3A-5464206F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Реальний стенд для ручних перевірок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32A7A9-0354-4292-9AD5-849B47ADAC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79e6ed52c04930"/>
          <a:stretch xmlns:a="http://schemas.openxmlformats.org/drawingml/2006/main"/>
        </p:blipFill>
        <p:spPr>
          <a:xfrm xmlns:a="http://schemas.openxmlformats.org/drawingml/2006/main">
            <a:off x="609600" y="1402420"/>
            <a:ext cx="4133850" cy="4872309"/>
          </a:xfrm>
          <a:prstGeom xmlns:a="http://schemas.openxmlformats.org/drawingml/2006/main" prst="rect">
            <a:avLst/>
          </a:prstGeom>
        </p:spPr>
      </p:pic>
      <p:sp>
        <p:nvSpPr>
          <p:cNvPr id="3" name="dut-heading">
            <a:extLst xmlns:a="http://schemas.openxmlformats.org/drawingml/2006/main">
              <a:ext uri="{FF2B5EF4-FFF2-40B4-BE49-F238E27FC236}">
                <a16:creationId xmlns:a16="http://schemas.microsoft.com/office/drawing/2014/main" id="{1BC5121E-AFE5-4ED0-A8D5-C3BBBEA1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438275"/>
            <a:ext cx="6362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ESP32-S3 N16R8</a:t>
            </a:r>
          </a:p>
        </p:txBody>
      </p:sp>
      <p:sp>
        <p:nvSpPr>
          <p:cNvPr id="4" name="dut-description">
            <a:extLst xmlns:a="http://schemas.openxmlformats.org/drawingml/2006/main">
              <a:ext uri="{FF2B5EF4-FFF2-40B4-BE49-F238E27FC236}">
                <a16:creationId xmlns:a16="http://schemas.microsoft.com/office/drawing/2014/main" id="{5AA0105D-94E9-417E-A8FD-F89FD18B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895475"/>
            <a:ext cx="636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Прошивка SENTRY, USB/UART із Mac</a:t>
            </a:r>
          </a:p>
        </p:txBody>
      </p:sp>
      <p:sp>
        <p:nvSpPr>
          <p:cNvPr id="5" name="relay-heading">
            <a:extLst xmlns:a="http://schemas.openxmlformats.org/drawingml/2006/main">
              <a:ext uri="{FF2B5EF4-FFF2-40B4-BE49-F238E27FC236}">
                <a16:creationId xmlns:a16="http://schemas.microsoft.com/office/drawing/2014/main" id="{E162B4AF-47F6-479C-8509-82B8601F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6362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Raspberry Pi 5 та реле 5 В</a:t>
            </a:r>
          </a:p>
        </p:txBody>
      </p:sp>
      <p:sp>
        <p:nvSpPr>
          <p:cNvPr id="6" name="relay-description">
            <a:extLst xmlns:a="http://schemas.openxmlformats.org/drawingml/2006/main">
              <a:ext uri="{FF2B5EF4-FFF2-40B4-BE49-F238E27FC236}">
                <a16:creationId xmlns:a16="http://schemas.microsoft.com/office/drawing/2014/main" id="{79660A30-1326-49C1-9DDD-1E254FEE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90850"/>
            <a:ext cx="636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Pi живить модуль, GPIO8 ESP32 керує IN</a:t>
            </a:r>
          </a:p>
        </p:txBody>
      </p:sp>
      <p:sp>
        <p:nvSpPr>
          <p:cNvPr id="7" name="inputs-heading">
            <a:extLst xmlns:a="http://schemas.openxmlformats.org/drawingml/2006/main">
              <a:ext uri="{FF2B5EF4-FFF2-40B4-BE49-F238E27FC236}">
                <a16:creationId xmlns:a16="http://schemas.microsoft.com/office/drawing/2014/main" id="{D4C1686A-ACEC-427E-827F-C4647481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29025"/>
            <a:ext cx="6362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Датчик відстані та кнопки</a:t>
            </a:r>
          </a:p>
        </p:txBody>
      </p:sp>
      <p:sp>
        <p:nvSpPr>
          <p:cNvPr id="8" name="led-description">
            <a:extLst xmlns:a="http://schemas.openxmlformats.org/drawingml/2006/main">
              <a:ext uri="{FF2B5EF4-FFF2-40B4-BE49-F238E27FC236}">
                <a16:creationId xmlns:a16="http://schemas.microsoft.com/office/drawing/2014/main" id="{2C087EBE-A7CA-4787-A5B9-A13F741E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076700"/>
            <a:ext cx="636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Зовнішній LED із резистором 220 Ом</a:t>
            </a:r>
          </a:p>
        </p:txBody>
      </p:sp>
      <p:sp>
        <p:nvSpPr>
          <p:cNvPr id="9" name="meter-heading">
            <a:extLst xmlns:a="http://schemas.openxmlformats.org/drawingml/2006/main">
              <a:ext uri="{FF2B5EF4-FFF2-40B4-BE49-F238E27FC236}">
                <a16:creationId xmlns:a16="http://schemas.microsoft.com/office/drawing/2014/main" id="{0F08424F-21F3-4255-8F5B-8D716204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724400"/>
            <a:ext cx="6362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Мультиметр: прозвонювання</a:t>
            </a:r>
          </a:p>
        </p:txBody>
      </p:sp>
      <p:sp>
        <p:nvSpPr>
          <p:cNvPr id="10" name="meter-description">
            <a:extLst xmlns:a="http://schemas.openxmlformats.org/drawingml/2006/main">
              <a:ext uri="{FF2B5EF4-FFF2-40B4-BE49-F238E27FC236}">
                <a16:creationId xmlns:a16="http://schemas.microsoft.com/office/drawing/2014/main" id="{37D72907-B7EC-413D-B86B-21E30126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172075"/>
            <a:ext cx="636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Перевірка контактів COM–NO та COM–NC</a:t>
            </a:r>
          </a:p>
        </p:txBody>
      </p:sp>
      <p:sp>
        <p:nvSpPr>
          <p:cNvPr id="11" name="photo-caption">
            <a:extLst xmlns:a="http://schemas.openxmlformats.org/drawingml/2006/main">
              <a:ext uri="{FF2B5EF4-FFF2-40B4-BE49-F238E27FC236}">
                <a16:creationId xmlns:a16="http://schemas.microsoft.com/office/drawing/2014/main" id="{A5BA7A16-B6DD-4E6B-A1A2-FA2DEAE8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772150"/>
            <a:ext cx="636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2.3.0: реле, LED та кольори RGB — Pass.</a:t>
            </a:r>
          </a:p>
          <a:p xmlns:a="http://schemas.openxmlformats.org/drawingml/2006/main">
            <a: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Підтверджено виконавцем 24.10.2026.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FD87F2-D063-4EC0-916B-2D36E8CA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60589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7C233-9C88-4798-8D8A-D7AF4631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Тест-дизайн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A3779-A124-4C33-BABA-1D0C6153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30461-FA01-4AF7-8CD6-F62B537501A0}"/>
              </a:ext>
            </a:extLst>
          </p:cNvPr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3771900"/>
                <a:gridCol w="3771900"/>
              </a:tblGrid>
              <a:tr h="66198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Перевірка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Допустимі значення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За межами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relay pulse, мс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100, 1000, 10000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−1, 0, 99, 10001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health interval, 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10, 300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9, 301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Довжина пароля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6, 32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5, 33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6E1EC-48C0-4E2C-95B5-C5E838E4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Переходи станів: on / off / toggle, lockout та clear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8E2A2F-A658-491A-81D8-EF4058A7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Збереження після reboot: cycles, інтервал health, пароль</a:t>
            </a:r>
          </a:p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Кожен параметр має власний результат і повний UART-лог.</a:t>
            </a:r>
          </a:p>
        </p:txBody>
      </p:sp>
    </p:spTree>
    <p:extLst>
      <p:ext uri="{BB962C8B-B14F-4D97-AF65-F5344CB8AC3E}">
        <p14:creationId xmlns:p14="http://schemas.microsoft.com/office/powerpoint/2010/main" val="11482131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76F4E-F38A-4109-946F-52E99C73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Результати двох версій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992F1-5B57-4B57-93D8-0F6F7CA2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5D0AC4-B855-4E2C-93D9-740E0FB45DE9}"/>
              </a:ext>
            </a:extLst>
          </p:cNvPr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1790700"/>
                <a:gridCol w="1790700"/>
                <a:gridCol w="1790700"/>
                <a:gridCol w="1790700"/>
              </a:tblGrid>
              <a:tr h="72390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Версія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Pass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2.1.0 stable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2.3.0 beta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D17CD-8EF4-4B08-B80D-CF4226F3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70 автоматизованих варіантів на версію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5E2A8-FD7A-4471-9804-94B210CB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668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N/A — сценарії, які не застосовуються до цієї версії.</a:t>
            </a:r>
          </a:p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Повторні відтворення не збільшують підсумок основних прогонів.</a:t>
            </a:r>
          </a:p>
        </p:txBody>
      </p:sp>
      <p:sp>
        <p:nvSpPr>
          <p:cNvPr id="7" name="manual-results">
            <a:extLst xmlns:a="http://schemas.openxmlformats.org/drawingml/2006/main">
              <a:ext uri="{FF2B5EF4-FFF2-40B4-BE49-F238E27FC236}">
                <a16:creationId xmlns:a16="http://schemas.microsoft.com/office/drawing/2014/main" id="{5DFB1954-8272-4CD3-A305-129B02B5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Ручні кейси 2.3.0: 3 Pass, 1 Not Run (яскравість)</a:t>
            </a:r>
          </a:p>
        </p:txBody>
      </p:sp>
    </p:spTree>
    <p:extLst>
      <p:ext uri="{BB962C8B-B14F-4D97-AF65-F5344CB8AC3E}">
        <p14:creationId xmlns:p14="http://schemas.microsoft.com/office/powerpoint/2010/main" val="20960058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D2CEA-CA20-4678-983B-5A9FD8AA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Шість знайдених дефектів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D8289-97B4-483E-ABB3-1D650861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2BAB9-397B-41AE-ABFC-71EA359D4063}"/>
              </a:ext>
            </a:extLst>
          </p:cNvPr>
          <p:cNvGraphicFramePr/>
          <p:nvPr/>
        </p:nvGraphicFramePr>
        <p:xfrm>
          <a:off xmlns:a="http://schemas.openxmlformats.org/drawingml/2006/main" x="609600" y="1533525"/>
          <a:ext xmlns:a="http://schemas.openxmlformats.org/drawingml/2006/main" cx="10972800" cy="3943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6286500"/>
                <a:gridCol w="1628775"/>
                <a:gridCol w="1628775"/>
              </a:tblGrid>
              <a:tr h="563336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Проблема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2.1.0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2.3.0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LM-01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lamp timer: ms у повідомленні замість 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pulse 99 виконується замість E603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RL-02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Одне перемикання додає 2 до cycles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HL-01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Допустимий health interval 300 відхиляється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AU-01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Новий пароль не зберігається після reboot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Наявний alert ID відхиляється з E851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3AE58-D6D2-48EC-A72B-F3759785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Повні ID мають префікс BUG-. У beta лишаються RL-01 та AL-01.</a:t>
            </a:r>
          </a:p>
        </p:txBody>
      </p:sp>
    </p:spTree>
    <p:extLst>
      <p:ext uri="{BB962C8B-B14F-4D97-AF65-F5344CB8AC3E}">
        <p14:creationId xmlns:p14="http://schemas.microsoft.com/office/powerpoint/2010/main" val="3532539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448332-4F00-4DEA-99FE-47601CD6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Теоретичний HIL-стенд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E2F06-CDF0-4CB2-95CC-2457632C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C3BDC-EC50-47C2-AAE5-EE2EAFD15A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0e6a056ab44e0f"/>
          <a:stretch xmlns:a="http://schemas.openxmlformats.org/drawingml/2006/main"/>
        </p:blipFill>
        <p:spPr>
          <a:xfrm xmlns:a="http://schemas.openxmlformats.org/drawingml/2006/main">
            <a:off x="381000" y="1201189"/>
            <a:ext cx="8039100" cy="540812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A6FA4-73FF-4270-A6FC-0C634C74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6573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Raspberry Pi + pytest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D2F1B1-D5ED-4834-8D86-6F0688E4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670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RP2040: кнопки</a:t>
            </a:r>
          </a:p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та ECHO сонара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AF85F2-6EDE-4965-B382-B270AECE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86715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Реле → макет клапана</a:t>
            </a:r>
          </a:p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MG90S + кінцевики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4869C-C665-4725-9F6C-E4E2D2FE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1435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CI зберігає докази;</a:t>
            </a:r>
          </a:p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Mosquitto передає події</a:t>
            </a:r>
          </a:p>
        </p:txBody>
      </p:sp>
    </p:spTree>
    <p:extLst>
      <p:ext uri="{BB962C8B-B14F-4D97-AF65-F5344CB8AC3E}">
        <p14:creationId xmlns:p14="http://schemas.microsoft.com/office/powerpoint/2010/main" val="19286770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21F03-8643-4692-89AE-A5E3A1CE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Висновок щодо 2.3.0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1CCDF-DAB4-409F-9ED5-13AF7C40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99937-A8B5-47EA-9E71-F2F3A9F6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B42336"/>
                </a:solidFill>
                <a:latin typeface="Arial"/>
                <a:ea typeface="Arial"/>
                <a:cs typeface="Arial"/>
              </a:rPr>
              <a:t>NO-GO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F1C28-B87A-4CB8-9AD2-056E3666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Недопустимий pulse 99 виконується</a:t>
            </a:r>
          </a:p>
          <a:p xmlns:a="http://schemas.openxmlformats.org/drawingml/2006/main">
            <a: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Підтвердження наявного alert за ID не працює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841F51-0499-4005-BA9B-08C70FE1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87F8C"/>
                </a:solidFill>
                <a:latin typeface="Arial"/>
                <a:ea typeface="Arial"/>
                <a:cs typeface="Arial"/>
              </a:rPr>
              <a:t>github.com/rpozniak/sentry-swm2-qa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43CD1-3B85-4DFB-852F-F0657BCF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Чотири дефекти 2.1.0 у beta не відтворились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85477C-DC3C-4C43-8502-8D56F6F2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Виправити pulse та ack за ID, повторити регресію.</a:t>
            </a:r>
          </a:p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Реле, зовнішній LED і кольори RGB: Pass на 2.3.0.</a:t>
            </a:r>
          </a:p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Яскравість у чотирьох режимах: Not Run.</a:t>
            </a:r>
          </a:p>
        </p:txBody>
      </p:sp>
    </p:spTree>
    <p:extLst>
      <p:ext uri="{BB962C8B-B14F-4D97-AF65-F5344CB8AC3E}">
        <p14:creationId xmlns:p14="http://schemas.microsoft.com/office/powerpoint/2010/main" val="19652010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2026-10-24T20:52:45.8640000Z</dcterms:created>
  <dcterms:modified xsi:type="dcterms:W3CDTF">2026-10-24T20:52:45.8640000Z</dcterms:modified>
</coreProperties>
</file>