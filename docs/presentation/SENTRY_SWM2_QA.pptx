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0eebc52f82d464d" /><Relationship Type="http://schemas.openxmlformats.org/officeDocument/2006/relationships/extended-properties" Target="/docProps/app.xml" Id="Rb42547b53c514aae" /><Relationship Type="http://schemas.openxmlformats.org/officeDocument/2006/relationships/officeDocument" Target="/ppt/presentation.xml" Id="Raa54766aaeb1458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bc24f22e95e47c5"/>
  </p:sldMasterIdLst>
  <p:notesMasterIdLst>
    <p:notesMasterId xmlns:r="http://schemas.openxmlformats.org/officeDocument/2006/relationships" r:id="R6fbcf4d7969e4ca0"/>
  </p:notesMasterIdLst>
  <p:sldIdLst>
    <p:sldId xmlns:r="http://schemas.openxmlformats.org/officeDocument/2006/relationships" id="256" r:id="R25fb744ae368473b"/>
    <p:sldId xmlns:r="http://schemas.openxmlformats.org/officeDocument/2006/relationships" id="257" r:id="R11d7e20b9713486a"/>
    <p:sldId xmlns:r="http://schemas.openxmlformats.org/officeDocument/2006/relationships" id="258" r:id="R4748f54bc3e648ab"/>
    <p:sldId xmlns:r="http://schemas.openxmlformats.org/officeDocument/2006/relationships" id="259" r:id="R8552bcf705024313"/>
    <p:sldId xmlns:r="http://schemas.openxmlformats.org/officeDocument/2006/relationships" id="260" r:id="Re55aa2d2ccd0463c"/>
    <p:sldId xmlns:r="http://schemas.openxmlformats.org/officeDocument/2006/relationships" id="261" r:id="R9143af164862423f"/>
    <p:sldId xmlns:r="http://schemas.openxmlformats.org/officeDocument/2006/relationships" id="262" r:id="R7e57bdb79eba4d8a"/>
    <p:sldId xmlns:r="http://schemas.openxmlformats.org/officeDocument/2006/relationships" id="263" r:id="R2434542c7f8748ea"/>
    <p:sldId xmlns:r="http://schemas.openxmlformats.org/officeDocument/2006/relationships" id="264" r:id="R3dd0c6fda5bd42c6"/>
    <p:sldId xmlns:r="http://schemas.openxmlformats.org/officeDocument/2006/relationships" id="265" r:id="R442b7957f3284a9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c8c2b627b2f4740" /><Relationship Type="http://schemas.openxmlformats.org/officeDocument/2006/relationships/slideMaster" Target="/ppt/slideMasters/slideMaster1.xml" Id="R5bc24f22e95e47c5" /><Relationship Type="http://schemas.openxmlformats.org/officeDocument/2006/relationships/notesMaster" Target="/ppt/notesMasters/notesMaster1.xml" Id="R6fbcf4d7969e4ca0" /><Relationship Type="http://schemas.openxmlformats.org/officeDocument/2006/relationships/presProps" Target="/ppt/presProps.xml" Id="R8acbd098cdd9480f" /><Relationship Type="http://schemas.openxmlformats.org/officeDocument/2006/relationships/tableStyles" Target="/ppt/tableStyles.xml" Id="R8ade753be4f84a1d" /><Relationship Type="http://schemas.openxmlformats.org/officeDocument/2006/relationships/slide" Target="/ppt/slides/slide1.xml" Id="R25fb744ae368473b" /><Relationship Type="http://schemas.openxmlformats.org/officeDocument/2006/relationships/slide" Target="/ppt/slides/slide2.xml" Id="R11d7e20b9713486a" /><Relationship Type="http://schemas.openxmlformats.org/officeDocument/2006/relationships/slide" Target="/ppt/slides/slide3.xml" Id="R4748f54bc3e648ab" /><Relationship Type="http://schemas.openxmlformats.org/officeDocument/2006/relationships/slide" Target="/ppt/slides/slide4.xml" Id="R8552bcf705024313" /><Relationship Type="http://schemas.openxmlformats.org/officeDocument/2006/relationships/slide" Target="/ppt/slides/slide5.xml" Id="Re55aa2d2ccd0463c" /><Relationship Type="http://schemas.openxmlformats.org/officeDocument/2006/relationships/slide" Target="/ppt/slides/slide6.xml" Id="R9143af164862423f" /><Relationship Type="http://schemas.openxmlformats.org/officeDocument/2006/relationships/slide" Target="/ppt/slides/slide7.xml" Id="R7e57bdb79eba4d8a" /><Relationship Type="http://schemas.openxmlformats.org/officeDocument/2006/relationships/slide" Target="/ppt/slides/slide8.xml" Id="R2434542c7f8748ea" /><Relationship Type="http://schemas.openxmlformats.org/officeDocument/2006/relationships/slide" Target="/ppt/slides/slide9.xml" Id="R3dd0c6fda5bd42c6" /><Relationship Type="http://schemas.openxmlformats.org/officeDocument/2006/relationships/slide" Target="/ppt/slides/slide10.xml" Id="R442b7957f3284a9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ccb15a1974e448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f70fa515aee4d3b" /><Relationship Type="http://schemas.openxmlformats.org/officeDocument/2006/relationships/notesMaster" Target="/ppt/notesMasters/notesMaster1.xml" Id="R970c7d54a68c436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59bed2ab2514b01" /><Relationship Type="http://schemas.openxmlformats.org/officeDocument/2006/relationships/notesMaster" Target="/ppt/notesMasters/notesMaster1.xml" Id="R3ad371ce73804da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d0efc0a36e74c02" /><Relationship Type="http://schemas.openxmlformats.org/officeDocument/2006/relationships/notesMaster" Target="/ppt/notesMasters/notesMaster1.xml" Id="Rcc975a56e09b475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2296c16d6ce4cfd" /><Relationship Type="http://schemas.openxmlformats.org/officeDocument/2006/relationships/notesMaster" Target="/ppt/notesMasters/notesMaster1.xml" Id="Rab7fb3a58fcc4e6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0e5304270154e81" /><Relationship Type="http://schemas.openxmlformats.org/officeDocument/2006/relationships/notesMaster" Target="/ppt/notesMasters/notesMaster1.xml" Id="Rdbe0ce40bc1a4c2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a140a29df9f4b8f" /><Relationship Type="http://schemas.openxmlformats.org/officeDocument/2006/relationships/notesMaster" Target="/ppt/notesMasters/notesMaster1.xml" Id="R2578667e674446b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937cba5676545e9" /><Relationship Type="http://schemas.openxmlformats.org/officeDocument/2006/relationships/notesMaster" Target="/ppt/notesMasters/notesMaster1.xml" Id="R1523e44981df413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3ecbe93b95e477e" /><Relationship Type="http://schemas.openxmlformats.org/officeDocument/2006/relationships/notesMaster" Target="/ppt/notesMasters/notesMaster1.xml" Id="R37ead372c43346c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a499599ec784666" /><Relationship Type="http://schemas.openxmlformats.org/officeDocument/2006/relationships/notesMaster" Target="/ppt/notesMasters/notesMaster1.xml" Id="Rf97024d0d4f7409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2f49546666b43cf" /><Relationship Type="http://schemas.openxmlformats.org/officeDocument/2006/relationships/notesMaster" Target="/ppt/notesMasters/notesMaster1.xml" Id="Rd933441ae63e495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https://github.com/rpozniak/sentry-swm2-qa/blob/main/REPORT.md</a:t>
            </a:r>
          </a:p>
          <a:p xmlns:a="http://schemas.openxmlformats.org/drawingml/2006/main">
            <a:r>
              <a:t>https://github.com/rpozniak/sentry-swm2-qa/blob/main/reference/COURSEWORK.pdf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https://github.com/rpozniak/sentry-swm2-qa/blob/main/reference/PRD.md</a:t>
            </a:r>
          </a:p>
          <a:p xmlns:a="http://schemas.openxmlformats.org/drawingml/2006/main">
            <a:r>
              <a:t>Фото ESP32-S3 надане користувачем.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https://github.com/rpozniak/sentry-swm2-qa/blob/main/docs/TEST_PLAN.md</a:t>
            </a:r>
          </a:p>
          <a:p xmlns:a="http://schemas.openxmlformats.org/drawingml/2006/main">
            <a:r>
              <a:t>https://github.com/rpozniak/sentry-swm2-qa/blob/main/docs/TEST_CASES.md</a:t>
            </a:r>
          </a:p>
          <a:p xmlns:a="http://schemas.openxmlformats.org/drawingml/2006/main">
            <a:r>
              <a:t>https://github.com/rpozniak/sentry-swm2-qa/blob/main/reference/COURSEWORK_SCOPE.png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https://github.com/rpozniak/sentry-swm2-qa/blob/main/tests/README.md</a:t>
            </a:r>
          </a:p>
          <a:p xmlns:a="http://schemas.openxmlformats.org/drawingml/2006/main">
            <a:r>
              <a:t>https://github.com/rpozniak/sentry-swm2-qa/blob/main/conftest.py</a:t>
            </a:r>
          </a:p>
          <a:p xmlns:a="http://schemas.openxmlformats.org/drawingml/2006/main">
            <a:r>
              <a:t>https://github.com/rpozniak/sentry-swm2-qa/blob/main/framework/device_driver.py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Фото надав автор проєкту 24.10.2026. Оригінал: docs/assets/REAL_STAND_2026-10-24.jpg. Опис: docs/REAL_STAND.md. Автор підтвердив реле 5 В, Raspberry Pi 5, ESP32-S3, кнопки, датчик відстані, LED із резистором 220 Ом і мультиметр у режимі прозвонювання. Підключення за описом користувача: живлення модуля від Pi, IN з GPIO8 ESP32. Автор підтвердив відповідність перевірок контактів і зовнішнього LED очікуванням. Журнал: docs/MANUAL_RUN.md. Поточний ручний стенд відрізняється від проєкту подальшої HIL-автоматизації на окремому слайді.</a:t>
            </a:r>
          </a:p>
          <a:p xmlns:a="http://schemas.openxmlformats.org/drawingml/2006/main">
            <a:r>
              <a:t>Ручний прогін 2.3.0, 24.10.2026: TC-RL-02 і TC-RL-03 — Pass за повідомленням виконавця про відповідність усім умовам. Результат включає ON/OFF для обох пар COM–NO/COM–NC і зовнішнього LED. Фото стенда показує обладнання та LED при ON. Окремого UART-логу або відео прозвонювання не надано. Джерело: logs/manual-2.3.0-01/OPERATOR_REPORT.md. TC-LM-09 і TC-LM-10 на 2.3.0 залишаються Not Run. На 2.1.0 усі чотири ручні кейси — Not Run. Підсумок за кейсами 2.3.0: 30 Pass, 3 Fail, 2 Not Run, 1 N/A. Автоматизовані результати та NO-GO не змінені.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https://github.com/rpozniak/sentry-swm2-qa/blob/main/docs/TEST_CASES.md</a:t>
            </a:r>
          </a:p>
          <a:p xmlns:a="http://schemas.openxmlformats.org/drawingml/2006/main">
            <a:r>
              <a:t>https://github.com/rpozniak/sentry-swm2-qa/blob/main/docs/TRACEABILITY.md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https://github.com/rpozniak/sentry-swm2-qa/blob/main/REPORT.md</a:t>
            </a:r>
          </a:p>
          <a:p xmlns:a="http://schemas.openxmlformats.org/drawingml/2006/main">
            <a:r>
              <a:t>https://github.com/rpozniak/sentry-swm2-qa/blob/main/docs/EXECUTION_RESULTS.md</a:t>
            </a:r>
          </a:p>
          <a:p xmlns:a="http://schemas.openxmlformats.org/drawingml/2006/main">
            <a:r>
              <a:t>Ручний прогін 2.3.0, 24.10.2026: TC-RL-02 і TC-RL-03 — Pass за повідомленням виконавця про відповідність усім умовам. Результат включає ON/OFF для обох пар COM–NO/COM–NC і зовнішнього LED. Фото стенда показує обладнання та LED при ON. Окремого UART-логу або відео прозвонювання не надано. Джерело: logs/manual-2.3.0-01/OPERATOR_REPORT.md. TC-LM-09 і TC-LM-10 на 2.3.0 залишаються Not Run. На 2.1.0 усі чотири ручні кейси — Not Run. Підсумок за кейсами 2.3.0: 30 Pass, 3 Fail, 2 Not Run, 1 N/A. Автоматизовані результати та NO-GO не змінені.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https://github.com/rpozniak/sentry-swm2-qa/blob/main/REPORT.md</a:t>
            </a:r>
          </a:p>
          <a:p xmlns:a="http://schemas.openxmlformats.org/drawingml/2006/main">
            <a:r>
              <a:t>https://github.com/rpozniak/sentry-swm2-qa/blob/main/bugs/BUG-LM-01.md</a:t>
            </a:r>
          </a:p>
          <a:p xmlns:a="http://schemas.openxmlformats.org/drawingml/2006/main">
            <a:r>
              <a:t>https://github.com/rpozniak/sentry-swm2-qa/blob/main/bugs/BUG-RL-01.md</a:t>
            </a:r>
          </a:p>
          <a:p xmlns:a="http://schemas.openxmlformats.org/drawingml/2006/main">
            <a:r>
              <a:t>https://github.com/rpozniak/sentry-swm2-qa/blob/main/bugs/BUG-RL-02.md</a:t>
            </a:r>
          </a:p>
          <a:p xmlns:a="http://schemas.openxmlformats.org/drawingml/2006/main">
            <a:r>
              <a:t>https://github.com/rpozniak/sentry-swm2-qa/blob/main/bugs/BUG-HL-01.md</a:t>
            </a:r>
          </a:p>
          <a:p xmlns:a="http://schemas.openxmlformats.org/drawingml/2006/main">
            <a:r>
              <a:t>https://github.com/rpozniak/sentry-swm2-qa/blob/main/bugs/BUG-AU-01.md</a:t>
            </a:r>
          </a:p>
          <a:p xmlns:a="http://schemas.openxmlformats.org/drawingml/2006/main">
            <a:r>
              <a:t>https://github.com/rpozniak/sentry-swm2-qa/blob/main/bugs/BUG-AL-01.md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https://github.com/rpozniak/sentry-swm2-qa/blob/main/docs/HIL_STAND.md</a:t>
            </a:r>
          </a:p>
          <a:p xmlns:a="http://schemas.openxmlformats.org/drawingml/2006/main">
            <a:r>
              <a:t>https://github.com/rpozniak/sentry-swm2-qa/blob/main/reference/PRD.md</a:t>
            </a:r>
          </a:p>
          <a:p xmlns:a="http://schemas.openxmlformats.org/drawingml/2006/main">
            <a:r>
              <a:t>MG90S є допоміжним макетом приводу клапана. PWM формує агент RP2040; очікування для SENTRY визначені в PRD.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https://github.com/rpozniak/sentry-swm2-qa/blob/main/REPORT.md</a:t>
            </a:r>
          </a:p>
          <a:p xmlns:a="http://schemas.openxmlformats.org/drawingml/2006/main">
            <a:r>
              <a:t>https://github.com/rpozniak/sentry-swm2-qa/blob/main/docs/TRACEABILITY.md</a:t>
            </a:r>
          </a:p>
          <a:p xmlns:a="http://schemas.openxmlformats.org/drawingml/2006/main">
            <a:r>
              <a:t>Ручний прогін 2.3.0, 24.10.2026: TC-RL-02 і TC-RL-03 — Pass за повідомленням виконавця про відповідність усім умовам. Результат включає ON/OFF для обох пар COM–NO/COM–NC і зовнішнього LED. Фото стенда показує обладнання та LED при ON. Окремого UART-логу або відео прозвонювання не надано. Джерело: logs/manual-2.3.0-01/OPERATOR_REPORT.md. TC-LM-09 і TC-LM-10 на 2.3.0 залишаються Not Run. На 2.1.0 усі чотири ручні кейси — Not Run. Підсумок за кейсами 2.3.0: 30 Pass, 3 Fail, 2 Not Run, 1 N/A. Автоматизовані результати та NO-GO не змінені.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a8f66ec567a472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0c7398d0bfc4e4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c954a0e7435466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0cdd6bcb27b405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4db2102cee64a2a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66922afa932438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0434414-7FD2-4B3F-A4B0-8C31566208D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136BE9FC-E4D5-48C0-8DC1-AB3D7D83098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5C5B6052-41FD-459C-B93D-5E973952F1C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D6B88F1-5A24-4CBA-B441-97D51252E2E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EE1AE55F-5E87-44FB-954E-6BA0CEB42A4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8FEEDC2-FAEB-4D12-A72A-E6F0F1359C3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2092633-6D1E-4400-82DC-AB7962BBDA2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7B372027-34E7-4410-85B5-82E4EF199FD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FB45107-C374-4874-AFEA-D6437E739B9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0C7EC32-CC10-4533-8D4E-8479219D2A6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e683743dc314f1e" /><Relationship Type="http://schemas.openxmlformats.org/officeDocument/2006/relationships/slideLayout" Target="/ppt/slideLayouts/slideLayout1.xml" Id="Rc5f9c11d28784848" /><Relationship Type="http://schemas.openxmlformats.org/officeDocument/2006/relationships/slideLayout" Target="/ppt/slideLayouts/slideLayout2.xml" Id="R17b06670b6614e81" /><Relationship Type="http://schemas.openxmlformats.org/officeDocument/2006/relationships/slideLayout" Target="/ppt/slideLayouts/slideLayout3.xml" Id="R1881d436e7784b73" /><Relationship Type="http://schemas.openxmlformats.org/officeDocument/2006/relationships/slideLayout" Target="/ppt/slideLayouts/slideLayout4.xml" Id="R21f8e35de54c45ba" /><Relationship Type="http://schemas.openxmlformats.org/officeDocument/2006/relationships/slideLayout" Target="/ppt/slideLayouts/slideLayout5.xml" Id="Rc51e8588ff0e4692" /><Relationship Type="http://schemas.openxmlformats.org/officeDocument/2006/relationships/slideLayout" Target="/ppt/slideLayouts/slideLayout6.xml" Id="R4b9ccef4bf264e3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5f9c11d28784848"/>
    <p:sldLayoutId xmlns:r="http://schemas.openxmlformats.org/officeDocument/2006/relationships" id="2147483650" r:id="R17b06670b6614e81"/>
    <p:sldLayoutId xmlns:r="http://schemas.openxmlformats.org/officeDocument/2006/relationships" id="2147483651" r:id="R1881d436e7784b73"/>
    <p:sldLayoutId xmlns:r="http://schemas.openxmlformats.org/officeDocument/2006/relationships" id="2147483652" r:id="R21f8e35de54c45ba"/>
    <p:sldLayoutId xmlns:r="http://schemas.openxmlformats.org/officeDocument/2006/relationships" id="2147483653" r:id="Rc51e8588ff0e4692"/>
    <p:sldLayoutId xmlns:r="http://schemas.openxmlformats.org/officeDocument/2006/relationships" id="2147483654" r:id="R4b9ccef4bf264e3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0e2948a825b4763" /><Relationship Type="http://schemas.openxmlformats.org/officeDocument/2006/relationships/notesSlide" Target="/ppt/notesSlides/notesSlide1.xml" Id="Rde5dab7d45744e4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1a09c9476b842ce" /><Relationship Type="http://schemas.openxmlformats.org/officeDocument/2006/relationships/image" Target="/ppt/media/image.jpeg" Id="R68b108181edf44ca" /><Relationship Type="http://schemas.openxmlformats.org/officeDocument/2006/relationships/notesSlide" Target="/ppt/notesSlides/notesSlide2.xml" Id="R954d0facafa54d5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30b6663589a40ef" /><Relationship Type="http://schemas.openxmlformats.org/officeDocument/2006/relationships/notesSlide" Target="/ppt/notesSlides/notesSlide3.xml" Id="R8314f05d5c18423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6bfe9f23d3d4d80" /><Relationship Type="http://schemas.openxmlformats.org/officeDocument/2006/relationships/notesSlide" Target="/ppt/notesSlides/notesSlide4.xml" Id="R05d63f10d90f419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ae813bbc2d94d48" /><Relationship Type="http://schemas.openxmlformats.org/officeDocument/2006/relationships/image" Target="/ppt/media/image2.jpeg" Id="R470e512c81d84189" /><Relationship Type="http://schemas.openxmlformats.org/officeDocument/2006/relationships/notesSlide" Target="/ppt/notesSlides/notesSlide5.xml" Id="Rf4c4f61aeb4346f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5616694d0ae41e9" /><Relationship Type="http://schemas.openxmlformats.org/officeDocument/2006/relationships/notesSlide" Target="/ppt/notesSlides/notesSlide6.xml" Id="Rec5e3cc1f58641d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5a9743599c449d4" /><Relationship Type="http://schemas.openxmlformats.org/officeDocument/2006/relationships/notesSlide" Target="/ppt/notesSlides/notesSlide7.xml" Id="Rc6cdaddfd693403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d926b0f04394d90" /><Relationship Type="http://schemas.openxmlformats.org/officeDocument/2006/relationships/notesSlide" Target="/ppt/notesSlides/notesSlide8.xml" Id="R3f6e9985216649a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9cabc1254434a69" /><Relationship Type="http://schemas.openxmlformats.org/officeDocument/2006/relationships/image" Target="/ppt/media/image.png" Id="R308b5bea5e664b43" /><Relationship Type="http://schemas.openxmlformats.org/officeDocument/2006/relationships/notesSlide" Target="/ppt/notesSlides/notesSlide9.xml" Id="R5c46697216f44d6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701ccd9c2f74452" /><Relationship Type="http://schemas.openxmlformats.org/officeDocument/2006/relationships/notesSlide" Target="/ppt/notesSlides/notesSlide10.xml" Id="Rf5f8721cce594aa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3263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1FDD63-2576-4BC2-B847-1F09C866D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6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6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6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6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6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6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6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6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6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6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6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SENTRY SWM-2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C77AAD-E7E6-489A-AD84-F64EE7949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861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0">
                <a:solidFill>
                  <a:srgbClr val="6DE0D3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550" b="0">
                <a:solidFill>
                  <a:srgbClr val="6DE0D3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550" b="0">
                <a:solidFill>
                  <a:srgbClr val="6DE0D3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550" b="0">
                <a:solidFill>
                  <a:srgbClr val="6DE0D3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550" b="0">
                <a:solidFill>
                  <a:srgbClr val="6DE0D3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550" b="0">
                <a:solidFill>
                  <a:srgbClr val="6DE0D3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550" b="0">
                <a:solidFill>
                  <a:srgbClr val="6DE0D3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550" b="0">
                <a:solidFill>
                  <a:srgbClr val="6DE0D3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550" b="0">
                <a:solidFill>
                  <a:srgbClr val="6DE0D3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550" b="0">
                <a:solidFill>
                  <a:srgbClr val="6DE0D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550" b="0">
                <a:solidFill>
                  <a:srgbClr val="6DE0D3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6DE0D3"/>
                </a:solidFill>
                <a:latin typeface="Arial"/>
                <a:ea typeface="Arial"/>
                <a:cs typeface="Arial"/>
              </a:rPr>
              <a:t>2.1.0 stable → 2.3.0 beta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EF16DE-5D2D-4F48-A076-C3E1FD2CF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C6D4E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800" b="0">
                <a:solidFill>
                  <a:srgbClr val="C6D4E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800" b="0">
                <a:solidFill>
                  <a:srgbClr val="C6D4E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800" b="0">
                <a:solidFill>
                  <a:srgbClr val="C6D4E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800" b="0">
                <a:solidFill>
                  <a:srgbClr val="C6D4E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800" b="0">
                <a:solidFill>
                  <a:srgbClr val="C6D4E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800" b="0">
                <a:solidFill>
                  <a:srgbClr val="C6D4E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800" b="0">
                <a:solidFill>
                  <a:srgbClr val="C6D4E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800" b="0">
                <a:solidFill>
                  <a:srgbClr val="C6D4E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800" b="0">
                <a:solidFill>
                  <a:srgbClr val="C6D4E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00" b="0">
                <a:solidFill>
                  <a:srgbClr val="C6D4E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C6D4E1"/>
                </a:solidFill>
                <a:latin typeface="Arial"/>
                <a:ea typeface="Arial"/>
                <a:cs typeface="Arial"/>
              </a:rPr>
              <a:t>Embedded QA Engineer · Курсовий проєкт</a:t>
            </a:r>
          </a:p>
        </p:txBody>
      </p:sp>
    </p:spTree>
    <p:extLst>
      <p:ext uri="{BB962C8B-B14F-4D97-AF65-F5344CB8AC3E}">
        <p14:creationId xmlns:p14="http://schemas.microsoft.com/office/powerpoint/2010/main" val="145937207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0F867E-6F43-4F5B-A2A0-B8E79F8CD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Об’єкт тестування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C92043-31C5-4579-90CC-0E593B304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704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0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0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30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30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30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30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30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30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30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30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30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ESP32-S3 N16R8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482D59-1B7D-43CB-8860-4D2ECF0D5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0300"/>
            <a:ext cx="70485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4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4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4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4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4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4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4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4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4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4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Прошивка SENTRY SWM-2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33CC64-5115-4246-A1DF-9BB8C5826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62300"/>
            <a:ext cx="70485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2D45"/>
                </a:solidFill>
                <a:latin typeface="Arial"/>
                <a:ea typeface="Arial"/>
                <a:cs typeface="Arial"/>
              </a:rPr>
              <a:t>Навчальна модель гідроакустичної вахти:</a:t>
            </a:r>
          </a:p>
          <a:p xmlns:a="http://schemas.openxmlformats.org/drawingml/2006/main">
            <a:pPr>
              <a:buNone/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2D45"/>
                </a:solidFill>
                <a:latin typeface="Arial"/>
                <a:ea typeface="Arial"/>
                <a:cs typeface="Arial"/>
              </a:rPr>
              <a:t>сонар, реле, RGB-лампа, телеметрія</a:t>
            </a:r>
          </a:p>
          <a:p xmlns:a="http://schemas.openxmlformats.org/drawingml/2006/main">
            <a:pPr>
              <a:buNone/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2D45"/>
                </a:solidFill>
                <a:latin typeface="Arial"/>
                <a:ea typeface="Arial"/>
                <a:cs typeface="Arial"/>
              </a:rPr>
              <a:t>та сповіщення.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4CF2D0-8D88-4F28-958B-2E8414154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43450"/>
            <a:ext cx="70485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32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32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32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32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32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32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32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32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32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32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2.1.0 stable та 2.3.0 beta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692D35-5D9B-4870-8B2D-8C993DBB2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76875"/>
            <a:ext cx="70485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02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02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02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02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02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02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02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02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02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Очікувана поведінка — PRD.md</a:t>
            </a:r>
          </a:p>
          <a:p xmlns:a="http://schemas.openxmlformats.org/drawingml/2006/main">
            <a:pPr>
              <a:buNone/>
              <a:defRPr sz="202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Керування через UART 115200 8N1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3DC05D-8E73-4023-8E38-13BF7B897BF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b108181edf44ca"/>
          <a:stretch xmlns:a="http://schemas.openxmlformats.org/drawingml/2006/main"/>
        </p:blipFill>
        <p:spPr>
          <a:xfrm xmlns:a="http://schemas.openxmlformats.org/drawingml/2006/main">
            <a:off x="8143875" y="1558925"/>
            <a:ext cx="3333750" cy="44450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D0DAD6-9826-4B1C-B16A-668285B8D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4389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17445107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E67E86-1CD3-4F19-9F02-CA7366F0F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Функції під тестуванням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ED9320-24F0-4F85-985B-CBBEF5EF8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4389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39A91F-8E28-41E6-ABA1-0295AFFC8787}"/>
              </a:ext>
            </a:extLst>
          </p:cNvPr>
          <p:cNvGraphicFramePr/>
          <p:nvPr/>
        </p:nvGraphicFramePr>
        <p:xfrm>
          <a:off xmlns:a="http://schemas.openxmlformats.org/drawingml/2006/main" x="609600" y="1562100"/>
          <a:ext xmlns:a="http://schemas.openxmlformats.org/drawingml/2006/main" cx="10972800" cy="34671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86000"/>
                <a:gridCol w="6381750"/>
                <a:gridCol w="2305050"/>
              </a:tblGrid>
              <a:tr h="5778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Фіча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T w="9525">
                      <a:solidFill>
                        <a:srgbClr val="D9E1EA"/>
                      </a:solidFill>
                      <a:prstDash val="solid"/>
                    </a:lnT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182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Основні перевірки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T w="9525">
                      <a:solidFill>
                        <a:srgbClr val="D9E1EA"/>
                      </a:solidFill>
                      <a:prstDash val="solid"/>
                    </a:lnT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182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Auto-кейси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T w="9525">
                      <a:solidFill>
                        <a:srgbClr val="D9E1EA"/>
                      </a:solidFill>
                      <a:prstDash val="solid"/>
                    </a:lnT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182D45"/>
                    </a:solidFill>
                  </a:tcPr>
                </a:tc>
              </a:tr>
              <a:tr h="5778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Лампа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RGB, яскравість, таймер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778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Реле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Стан, pulse, schedule, cycles, NVS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</a:tr>
              <a:tr h="5778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Телеметрія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Поля, межі інтервалу, off, NVS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778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Акаунт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Вхід, lockout, пароль, logout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</a:tr>
              <a:tr h="5778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Alert center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E099 у stable; test, ack, clear у beta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C42C84-87A2-4321-9490-5CA67C695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4352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4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4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4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4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4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4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4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4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4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4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32 автоматизовані кейси</a:t>
            </a:r>
          </a:p>
        </p:txBody>
      </p:sp>
    </p:spTree>
    <p:extLst>
      <p:ext uri="{BB962C8B-B14F-4D97-AF65-F5344CB8AC3E}">
        <p14:creationId xmlns:p14="http://schemas.microsoft.com/office/powerpoint/2010/main" val="95011875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2D1808-9453-4428-B979-EB6572748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Фреймворк і реальний UART-стенд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C4F18D-364B-4888-A659-2C30D36DE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4389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D483DC-E399-4EB1-B858-C741B9C2E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pytest → фікстури → UART-драйвер → ESP32-S3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4F991F-C478-41CF-831B-8FA2F6CED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47925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Підключення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8FCBAA-5491-400E-A203-1BAD4B23B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390775"/>
            <a:ext cx="7715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2D45"/>
                </a:solidFill>
                <a:latin typeface="Arial"/>
                <a:ea typeface="Arial"/>
                <a:cs typeface="Arial"/>
              </a:rPr>
              <a:t>Mac, USB/UART 115200 8N1</a:t>
            </a:r>
          </a:p>
          <a:p xmlns:a="http://schemas.openxmlformats.org/drawingml/2006/main">
            <a:pPr>
              <a:buNone/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2D45"/>
                </a:solidFill>
                <a:latin typeface="Arial"/>
                <a:ea typeface="Arial"/>
                <a:cs typeface="Arial"/>
              </a:rPr>
              <a:t>Автопошук порта за VID 1A86 або --port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F9F76F-04FF-474C-A696-ABDDDC609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Фікстури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1C11A2-D96A-4A59-ABB8-B6B442924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533775"/>
            <a:ext cx="7715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82D45"/>
                </a:solidFill>
                <a:latin typeface="Arial"/>
                <a:ea typeface="Arial"/>
                <a:cs typeface="Arial"/>
              </a:rPr>
              <a:t>dut: одна сесія UART, версія й авторизація</a:t>
            </a:r>
          </a:p>
          <a:p xmlns:a="http://schemas.openxmlformats.org/drawingml/2006/main">
            <a: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82D45"/>
                </a:solidFill>
                <a:latin typeface="Arial"/>
                <a:ea typeface="Arial"/>
                <a:cs typeface="Arial"/>
              </a:rPr>
              <a:t>device: передумови, лог і очищення кожного кейсу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EE41E2-818E-4591-B3CD-A15F69782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67275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Докази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C12269-0C8C-4EF3-85AB-39215FA54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800600"/>
            <a:ext cx="77152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82D45"/>
                </a:solidFill>
                <a:latin typeface="Arial"/>
                <a:ea typeface="Arial"/>
                <a:cs typeface="Arial"/>
              </a:rPr>
              <a:t>Окремі TX/RX-логи з часовими мітками</a:t>
            </a:r>
          </a:p>
          <a:p xmlns:a="http://schemas.openxmlformats.org/drawingml/2006/main">
            <a: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82D45"/>
                </a:solidFill>
                <a:latin typeface="Arial"/>
                <a:ea typeface="Arial"/>
                <a:cs typeface="Arial"/>
              </a:rPr>
              <a:t>Паролі приховуються; JSON, Markdown і JUnit-звіти</a:t>
            </a:r>
          </a:p>
        </p:txBody>
      </p:sp>
    </p:spTree>
    <p:extLst>
      <p:ext uri="{BB962C8B-B14F-4D97-AF65-F5344CB8AC3E}">
        <p14:creationId xmlns:p14="http://schemas.microsoft.com/office/powerpoint/2010/main" val="124789101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tand-title">
            <a:extLst xmlns:a="http://schemas.openxmlformats.org/drawingml/2006/main">
              <a:ext uri="{FF2B5EF4-FFF2-40B4-BE49-F238E27FC236}">
                <a16:creationId xmlns:a16="http://schemas.microsoft.com/office/drawing/2014/main" id="{B29D2C40-6BDD-4317-8D3A-5464206F1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Реальний стенд для ручних перевірок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E7CB45-3180-4B77-A2FF-3947EAA4ABD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0e512c81d84189"/>
          <a:stretch xmlns:a="http://schemas.openxmlformats.org/drawingml/2006/main"/>
        </p:blipFill>
        <p:spPr>
          <a:xfrm xmlns:a="http://schemas.openxmlformats.org/drawingml/2006/main">
            <a:off x="609600" y="1402420"/>
            <a:ext cx="4133850" cy="4872309"/>
          </a:xfrm>
          <a:prstGeom xmlns:a="http://schemas.openxmlformats.org/drawingml/2006/main" prst="rect">
            <a:avLst/>
          </a:prstGeom>
        </p:spPr>
      </p:pic>
      <p:sp>
        <p:nvSpPr>
          <p:cNvPr id="3" name="dut-heading">
            <a:extLst xmlns:a="http://schemas.openxmlformats.org/drawingml/2006/main">
              <a:ext uri="{FF2B5EF4-FFF2-40B4-BE49-F238E27FC236}">
                <a16:creationId xmlns:a16="http://schemas.microsoft.com/office/drawing/2014/main" id="{1BC5121E-AFE5-4ED0-A8D5-C3BBBEA1C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1438275"/>
            <a:ext cx="6362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4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4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4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4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4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4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4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4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4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4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ESP32-S3 N16R8</a:t>
            </a:r>
          </a:p>
        </p:txBody>
      </p:sp>
      <p:sp>
        <p:nvSpPr>
          <p:cNvPr id="4" name="dut-description">
            <a:extLst xmlns:a="http://schemas.openxmlformats.org/drawingml/2006/main">
              <a:ext uri="{FF2B5EF4-FFF2-40B4-BE49-F238E27FC236}">
                <a16:creationId xmlns:a16="http://schemas.microsoft.com/office/drawing/2014/main" id="{5AA0105D-94E9-417E-A8FD-F89FD18B6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1895475"/>
            <a:ext cx="6362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82D45"/>
                </a:solidFill>
                <a:latin typeface="Arial"/>
                <a:ea typeface="Arial"/>
                <a:cs typeface="Arial"/>
              </a:rPr>
              <a:t>Прошивка SENTRY, USB/UART із Mac</a:t>
            </a:r>
          </a:p>
        </p:txBody>
      </p:sp>
      <p:sp>
        <p:nvSpPr>
          <p:cNvPr id="5" name="relay-heading">
            <a:extLst xmlns:a="http://schemas.openxmlformats.org/drawingml/2006/main">
              <a:ext uri="{FF2B5EF4-FFF2-40B4-BE49-F238E27FC236}">
                <a16:creationId xmlns:a16="http://schemas.microsoft.com/office/drawing/2014/main" id="{E162B4AF-47F6-479C-8509-82B8601F3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552700"/>
            <a:ext cx="6362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Raspberry Pi 5 та реле 5 В</a:t>
            </a:r>
          </a:p>
        </p:txBody>
      </p:sp>
      <p:sp>
        <p:nvSpPr>
          <p:cNvPr id="6" name="relay-description">
            <a:extLst xmlns:a="http://schemas.openxmlformats.org/drawingml/2006/main">
              <a:ext uri="{FF2B5EF4-FFF2-40B4-BE49-F238E27FC236}">
                <a16:creationId xmlns:a16="http://schemas.microsoft.com/office/drawing/2014/main" id="{79660A30-1326-49C1-9DDD-1E254FEE5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990850"/>
            <a:ext cx="6362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95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95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95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95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95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95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95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95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95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82D45"/>
                </a:solidFill>
                <a:latin typeface="Arial"/>
                <a:ea typeface="Arial"/>
                <a:cs typeface="Arial"/>
              </a:rPr>
              <a:t>Pi живить модуль, GPIO8 ESP32 керує IN</a:t>
            </a:r>
          </a:p>
        </p:txBody>
      </p:sp>
      <p:sp>
        <p:nvSpPr>
          <p:cNvPr id="7" name="inputs-heading">
            <a:extLst xmlns:a="http://schemas.openxmlformats.org/drawingml/2006/main">
              <a:ext uri="{FF2B5EF4-FFF2-40B4-BE49-F238E27FC236}">
                <a16:creationId xmlns:a16="http://schemas.microsoft.com/office/drawing/2014/main" id="{D4C1686A-ACEC-427E-827F-C46474810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629025"/>
            <a:ext cx="6362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Датчик відстані та кнопки</a:t>
            </a:r>
          </a:p>
        </p:txBody>
      </p:sp>
      <p:sp>
        <p:nvSpPr>
          <p:cNvPr id="8" name="led-description">
            <a:extLst xmlns:a="http://schemas.openxmlformats.org/drawingml/2006/main">
              <a:ext uri="{FF2B5EF4-FFF2-40B4-BE49-F238E27FC236}">
                <a16:creationId xmlns:a16="http://schemas.microsoft.com/office/drawing/2014/main" id="{2C087EBE-A7CA-4787-A5B9-A13F741E3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076700"/>
            <a:ext cx="6362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82D45"/>
                </a:solidFill>
                <a:latin typeface="Arial"/>
                <a:ea typeface="Arial"/>
                <a:cs typeface="Arial"/>
              </a:rPr>
              <a:t>Зовнішній LED із резистором 220 Ом</a:t>
            </a:r>
          </a:p>
        </p:txBody>
      </p:sp>
      <p:sp>
        <p:nvSpPr>
          <p:cNvPr id="9" name="meter-heading">
            <a:extLst xmlns:a="http://schemas.openxmlformats.org/drawingml/2006/main">
              <a:ext uri="{FF2B5EF4-FFF2-40B4-BE49-F238E27FC236}">
                <a16:creationId xmlns:a16="http://schemas.microsoft.com/office/drawing/2014/main" id="{0F08424F-21F3-4255-8F5B-8D716204A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724400"/>
            <a:ext cx="6362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Мультиметр: прозвонювання</a:t>
            </a:r>
          </a:p>
        </p:txBody>
      </p:sp>
      <p:sp>
        <p:nvSpPr>
          <p:cNvPr id="10" name="meter-description">
            <a:extLst xmlns:a="http://schemas.openxmlformats.org/drawingml/2006/main">
              <a:ext uri="{FF2B5EF4-FFF2-40B4-BE49-F238E27FC236}">
                <a16:creationId xmlns:a16="http://schemas.microsoft.com/office/drawing/2014/main" id="{37D72907-B7EC-413D-B86B-21E301264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5172075"/>
            <a:ext cx="6362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82D45"/>
                </a:solidFill>
                <a:latin typeface="Arial"/>
                <a:ea typeface="Arial"/>
                <a:cs typeface="Arial"/>
              </a:rPr>
              <a:t>Перевірка контактів COM–NO та COM–NC</a:t>
            </a:r>
          </a:p>
        </p:txBody>
      </p:sp>
      <p:sp>
        <p:nvSpPr>
          <p:cNvPr id="11" name="photo-caption">
            <a:extLst xmlns:a="http://schemas.openxmlformats.org/drawingml/2006/main">
              <a:ext uri="{FF2B5EF4-FFF2-40B4-BE49-F238E27FC236}">
                <a16:creationId xmlns:a16="http://schemas.microsoft.com/office/drawing/2014/main" id="{A5BA7A16-B6DD-4E6B-A1A2-FA2DEAE8C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5772150"/>
            <a:ext cx="63627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6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6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6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6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6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6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6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6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6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2.3.0: реле та зовнішній LED — Pass.</a:t>
            </a:r>
          </a:p>
          <a:p xmlns:a="http://schemas.openxmlformats.org/drawingml/2006/main">
            <a:pPr>
              <a:buNone/>
              <a:defRPr sz="16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Підтверджено виконавцем 24.10.2026.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FFD87F2-D063-4EC0-916B-2D36E8CAC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4389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94605896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F7C233-9C88-4798-8D8A-D7AF4631A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Тест-дизайн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3A3779-A124-4C33-BABA-1D0C6153F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4389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E2F041-8D30-4C5A-874E-F0AC3F21F978}"/>
              </a:ext>
            </a:extLst>
          </p:cNvPr>
          <p:cNvGraphicFramePr/>
          <p:nvPr/>
        </p:nvGraphicFramePr>
        <p:xfrm>
          <a:off xmlns:a="http://schemas.openxmlformats.org/drawingml/2006/main" x="609600" y="1657350"/>
          <a:ext xmlns:a="http://schemas.openxmlformats.org/drawingml/2006/main" cx="10972800" cy="26479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29000"/>
                <a:gridCol w="3771900"/>
                <a:gridCol w="3771900"/>
              </a:tblGrid>
              <a:tr h="661988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Перевірка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T w="9525">
                      <a:solidFill>
                        <a:srgbClr val="D9E1EA"/>
                      </a:solidFill>
                      <a:prstDash val="solid"/>
                    </a:lnT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182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Допустимі значення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T w="9525">
                      <a:solidFill>
                        <a:srgbClr val="D9E1EA"/>
                      </a:solidFill>
                      <a:prstDash val="solid"/>
                    </a:lnT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182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За межами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T w="9525">
                      <a:solidFill>
                        <a:srgbClr val="D9E1EA"/>
                      </a:solidFill>
                      <a:prstDash val="solid"/>
                    </a:lnT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182D45"/>
                    </a:solidFill>
                  </a:tcPr>
                </a:tc>
              </a:tr>
              <a:tr h="661988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relay pulse, мс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100, 1000, 10000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−1, 0, 99, 10001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1988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health interval, с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10, 300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9, 301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</a:tr>
              <a:tr h="661988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Довжина пароля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6, 32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5, 33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86E1EC-48C0-4E2C-95B5-C5E838E44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76775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17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17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17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17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17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17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17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17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17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17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Переходи станів: on / off / toggle, lockout та clear alerts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8E2A2F-A658-491A-81D8-EF4058A7D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Збереження після reboot: cycles, інтервал health, пароль</a:t>
            </a:r>
          </a:p>
          <a:p xmlns:a="http://schemas.openxmlformats.org/drawingml/2006/main">
            <a:pPr>
              <a:buNone/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Кожен параметр має власний результат і повний UART-лог.</a:t>
            </a:r>
          </a:p>
        </p:txBody>
      </p:sp>
    </p:spTree>
    <p:extLst>
      <p:ext uri="{BB962C8B-B14F-4D97-AF65-F5344CB8AC3E}">
        <p14:creationId xmlns:p14="http://schemas.microsoft.com/office/powerpoint/2010/main" val="114821310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C76F4E-F38A-4109-946F-52E99C73F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Результати двох версій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9992F1-5B57-4B57-93D8-0F6F7CA20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4389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99FFCD-5E78-45A4-A50E-ED7155A0A86D}"/>
              </a:ext>
            </a:extLst>
          </p:cNvPr>
          <p:cNvGraphicFramePr/>
          <p:nvPr/>
        </p:nvGraphicFramePr>
        <p:xfrm>
          <a:off xmlns:a="http://schemas.openxmlformats.org/drawingml/2006/main" x="609600" y="1657350"/>
          <a:ext xmlns:a="http://schemas.openxmlformats.org/drawingml/2006/main" cx="10972800" cy="21717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810000"/>
                <a:gridCol w="1790700"/>
                <a:gridCol w="1790700"/>
                <a:gridCol w="1790700"/>
                <a:gridCol w="1790700"/>
              </a:tblGrid>
              <a:tr h="723900"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Версія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T w="9525">
                      <a:solidFill>
                        <a:srgbClr val="D9E1EA"/>
                      </a:solidFill>
                      <a:prstDash val="solid"/>
                    </a:lnT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182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Pass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T w="9525">
                      <a:solidFill>
                        <a:srgbClr val="D9E1EA"/>
                      </a:solidFill>
                      <a:prstDash val="solid"/>
                    </a:lnT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182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Fail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T w="9525">
                      <a:solidFill>
                        <a:srgbClr val="D9E1EA"/>
                      </a:solidFill>
                      <a:prstDash val="solid"/>
                    </a:lnT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182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N/A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T w="9525">
                      <a:solidFill>
                        <a:srgbClr val="D9E1EA"/>
                      </a:solidFill>
                      <a:prstDash val="solid"/>
                    </a:lnT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182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Blocked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T w="9525">
                      <a:solidFill>
                        <a:srgbClr val="D9E1EA"/>
                      </a:solidFill>
                      <a:prstDash val="solid"/>
                    </a:lnT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182D45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2.1.0 stable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57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2.3.0 beta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63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5D17CD-8EF4-4B08-B80D-CF4226F31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76725"/>
            <a:ext cx="10972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70 автоматизованих варіантів на версію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C5E2A8-FD7A-4471-9804-94B210CB5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62525"/>
            <a:ext cx="1066800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N/A — сценарії, які не застосовуються до цієї версії.</a:t>
            </a:r>
          </a:p>
          <a:p xmlns:a="http://schemas.openxmlformats.org/drawingml/2006/main">
            <a:pPr>
              <a:buNone/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Повторні відтворення не збільшують підсумок основних прогонів.</a:t>
            </a:r>
          </a:p>
        </p:txBody>
      </p:sp>
      <p:sp>
        <p:nvSpPr>
          <p:cNvPr id="7" name="manual-results">
            <a:extLst xmlns:a="http://schemas.openxmlformats.org/drawingml/2006/main">
              <a:ext uri="{FF2B5EF4-FFF2-40B4-BE49-F238E27FC236}">
                <a16:creationId xmlns:a16="http://schemas.microsoft.com/office/drawing/2014/main" id="{5DFB1954-8272-4CD3-A305-129B02B5A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>
              <a:defRPr sz="19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>
              <a:defRPr sz="19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>
              <a:defRPr sz="19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>
              <a:defRPr sz="19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>
              <a:defRPr sz="19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>
              <a:defRPr sz="19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>
              <a:defRPr sz="19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>
              <a:defRPr sz="19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>
              <a:defRPr sz="19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Ручні кейси 2.3.0: 2 Pass, 2 Not Run (RGB)</a:t>
            </a:r>
          </a:p>
        </p:txBody>
      </p:sp>
    </p:spTree>
    <p:extLst>
      <p:ext uri="{BB962C8B-B14F-4D97-AF65-F5344CB8AC3E}">
        <p14:creationId xmlns:p14="http://schemas.microsoft.com/office/powerpoint/2010/main" val="209600586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1D2CEA-CA20-4678-983B-5A9FD8AA1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Шість знайдених дефектів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CD8289-97B4-483E-ABB3-1D6508619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4389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00C033-843B-47C4-A558-CBA89D16D3D8}"/>
              </a:ext>
            </a:extLst>
          </p:cNvPr>
          <p:cNvGraphicFramePr/>
          <p:nvPr/>
        </p:nvGraphicFramePr>
        <p:xfrm>
          <a:off xmlns:a="http://schemas.openxmlformats.org/drawingml/2006/main" x="609600" y="1533525"/>
          <a:ext xmlns:a="http://schemas.openxmlformats.org/drawingml/2006/main" cx="10972800" cy="39433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428750"/>
                <a:gridCol w="6286500"/>
                <a:gridCol w="1628775"/>
                <a:gridCol w="1628775"/>
              </a:tblGrid>
              <a:tr h="563336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ID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T w="9525">
                      <a:solidFill>
                        <a:srgbClr val="D9E1EA"/>
                      </a:solidFill>
                      <a:prstDash val="solid"/>
                    </a:lnT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182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Проблема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T w="9525">
                      <a:solidFill>
                        <a:srgbClr val="D9E1EA"/>
                      </a:solidFill>
                      <a:prstDash val="solid"/>
                    </a:lnT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182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2.1.0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T w="9525">
                      <a:solidFill>
                        <a:srgbClr val="D9E1EA"/>
                      </a:solidFill>
                      <a:prstDash val="solid"/>
                    </a:lnT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182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2.3.0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T w="9525">
                      <a:solidFill>
                        <a:srgbClr val="D9E1EA"/>
                      </a:solidFill>
                      <a:prstDash val="solid"/>
                    </a:lnT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182D45"/>
                    </a:solidFill>
                  </a:tcPr>
                </a:tc>
              </a:tr>
              <a:tr h="563336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LM-01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lamp timer: ms у повідомленні замість 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Є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Не відтв.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336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RL-01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pulse 99 виконується замість E603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Є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Є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</a:tr>
              <a:tr h="563336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RL-02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Одне перемикання додає 2 до cycles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Є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Не відтв.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336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HL-01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Допустимий health interval 300 відхиляється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Є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Не відтв.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</a:tr>
              <a:tr h="563336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AU-01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Новий пароль не зберігається після reboot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Є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Не відтв.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336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AL-01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Наявний alert ID відхиляється з E851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N/A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Є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93AE58-D6D2-48EC-A72B-F37597851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66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87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87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87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87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87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87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87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87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87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7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Повні ID мають префікс BUG-. У beta лишаються RL-01 та AL-01.</a:t>
            </a:r>
          </a:p>
        </p:txBody>
      </p:sp>
    </p:spTree>
    <p:extLst>
      <p:ext uri="{BB962C8B-B14F-4D97-AF65-F5344CB8AC3E}">
        <p14:creationId xmlns:p14="http://schemas.microsoft.com/office/powerpoint/2010/main" val="35325397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448332-4F00-4DEA-99FE-47601CD66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Теоретичний HIL-стенд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4E2F06-CDF0-4CB2-95CC-2457632C9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4389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2F41C4-8505-4E7F-AAD5-5FCEE8B4C8A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8b5bea5e664b43"/>
          <a:stretch xmlns:a="http://schemas.openxmlformats.org/drawingml/2006/main"/>
        </p:blipFill>
        <p:spPr>
          <a:xfrm xmlns:a="http://schemas.openxmlformats.org/drawingml/2006/main">
            <a:off x="381000" y="1201189"/>
            <a:ext cx="8039100" cy="5408122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1A6FA4-73FF-4270-A6FC-0C634C744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1657350"/>
            <a:ext cx="2952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8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8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8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8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8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8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8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8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8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Raspberry Pi + pytest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D2F1B1-D5ED-4834-8D86-6F0688E45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667000"/>
            <a:ext cx="2952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82D45"/>
                </a:solidFill>
                <a:latin typeface="Arial"/>
                <a:ea typeface="Arial"/>
                <a:cs typeface="Arial"/>
              </a:rPr>
              <a:t>RP2040: кнопки</a:t>
            </a:r>
          </a:p>
          <a:p xmlns:a="http://schemas.openxmlformats.org/drawingml/2006/main">
            <a: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82D45"/>
                </a:solidFill>
                <a:latin typeface="Arial"/>
                <a:ea typeface="Arial"/>
                <a:cs typeface="Arial"/>
              </a:rPr>
              <a:t>та ECHO сонара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AF85F2-6EDE-4965-B382-B270AECE2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867150"/>
            <a:ext cx="2952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82D45"/>
                </a:solidFill>
                <a:latin typeface="Arial"/>
                <a:ea typeface="Arial"/>
                <a:cs typeface="Arial"/>
              </a:rPr>
              <a:t>Реле → макет клапана</a:t>
            </a:r>
          </a:p>
          <a:p xmlns:a="http://schemas.openxmlformats.org/drawingml/2006/main">
            <a: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82D45"/>
                </a:solidFill>
                <a:latin typeface="Arial"/>
                <a:ea typeface="Arial"/>
                <a:cs typeface="Arial"/>
              </a:rPr>
              <a:t>MG90S + кінцевики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84869C-C665-4725-9F6C-E4E2D2FEA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5143500"/>
            <a:ext cx="2952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82D45"/>
                </a:solidFill>
                <a:latin typeface="Arial"/>
                <a:ea typeface="Arial"/>
                <a:cs typeface="Arial"/>
              </a:rPr>
              <a:t>CI зберігає докази;</a:t>
            </a:r>
          </a:p>
          <a:p xmlns:a="http://schemas.openxmlformats.org/drawingml/2006/main">
            <a: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82D45"/>
                </a:solidFill>
                <a:latin typeface="Arial"/>
                <a:ea typeface="Arial"/>
                <a:cs typeface="Arial"/>
              </a:rPr>
              <a:t>Mosquitto передає події</a:t>
            </a:r>
          </a:p>
        </p:txBody>
      </p:sp>
    </p:spTree>
    <p:extLst>
      <p:ext uri="{BB962C8B-B14F-4D97-AF65-F5344CB8AC3E}">
        <p14:creationId xmlns:p14="http://schemas.microsoft.com/office/powerpoint/2010/main" val="192867703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821F03-8643-4692-89AE-A5E3A1CED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Висновок щодо 2.3.0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71CCDF-DAB4-409F-9ED5-13AF7C40C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4389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299937-A8B5-47EA-9E71-F2F3A9F69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14475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5700" b="1">
                <a:solidFill>
                  <a:srgbClr val="B42336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5700" b="1">
                <a:solidFill>
                  <a:srgbClr val="B42336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5700" b="1">
                <a:solidFill>
                  <a:srgbClr val="B42336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5700" b="1">
                <a:solidFill>
                  <a:srgbClr val="B42336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5700" b="1">
                <a:solidFill>
                  <a:srgbClr val="B42336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5700" b="1">
                <a:solidFill>
                  <a:srgbClr val="B42336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5700" b="1">
                <a:solidFill>
                  <a:srgbClr val="B42336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5700" b="1">
                <a:solidFill>
                  <a:srgbClr val="B42336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5700" b="1">
                <a:solidFill>
                  <a:srgbClr val="B42336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5700" b="1">
                <a:solidFill>
                  <a:srgbClr val="B4233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5700" b="1">
                <a:solidFill>
                  <a:srgbClr val="B42336"/>
                </a:solidFill>
                <a:latin typeface="Arial"/>
                <a:ea typeface="Arial"/>
                <a:cs typeface="Arial"/>
              </a:defRPr>
            </a:pPr>
            <a:r>
              <a:rPr sz="5700" b="1">
                <a:solidFill>
                  <a:srgbClr val="B42336"/>
                </a:solidFill>
                <a:latin typeface="Arial"/>
                <a:ea typeface="Arial"/>
                <a:cs typeface="Arial"/>
              </a:rPr>
              <a:t>NO-GO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1F1C28-B87A-4CB8-9AD2-056E36664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109728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5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5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5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5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5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5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5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5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5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5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Недопустимий pulse 99 виконується</a:t>
            </a:r>
          </a:p>
          <a:p xmlns:a="http://schemas.openxmlformats.org/drawingml/2006/main">
            <a:pPr>
              <a:buNone/>
              <a:defRPr sz="25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Підтвердження наявного alert за ID не працює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841F51-0499-4005-BA9B-08C70FE1E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725" b="0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725" b="0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725" b="0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725" b="0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725" b="0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725" b="0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725" b="0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725" b="0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725" b="0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725" b="0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87F8C"/>
                </a:solidFill>
                <a:latin typeface="Arial"/>
                <a:ea typeface="Arial"/>
                <a:cs typeface="Arial"/>
              </a:rPr>
              <a:t>github.com/rpozniak/sentry-swm2-qa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B43CD1-3B85-4DFB-852F-F0657BCF7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91025"/>
            <a:ext cx="109728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Чотири дефекти 2.1.0 у beta не відтворились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85477C-DC3C-4C43-8502-8D56F6F20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10972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10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10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10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10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10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10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10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10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10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Виправити pulse та ack за ID, повторити регресію.</a:t>
            </a:r>
          </a:p>
          <a:p xmlns:a="http://schemas.openxmlformats.org/drawingml/2006/main">
            <a:pPr>
              <a:buNone/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Реле й зовнішній LED: Pass на 2.3.0.</a:t>
            </a:r>
          </a:p>
          <a:p xmlns:a="http://schemas.openxmlformats.org/drawingml/2006/main">
            <a:pPr>
              <a:buNone/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Кольори RGB та яскравість: Not Run.</a:t>
            </a:r>
          </a:p>
        </p:txBody>
      </p:sp>
    </p:spTree>
    <p:extLst>
      <p:ext uri="{BB962C8B-B14F-4D97-AF65-F5344CB8AC3E}">
        <p14:creationId xmlns:p14="http://schemas.microsoft.com/office/powerpoint/2010/main" val="196520100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2026-10-24T20:49:25.3710000Z</dcterms:created>
  <dcterms:modified xsi:type="dcterms:W3CDTF">2026-10-24T20:49:25.3710000Z</dcterms:modified>
</coreProperties>
</file>