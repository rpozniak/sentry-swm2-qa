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a7f8cd252a94e94" /><Relationship Type="http://schemas.openxmlformats.org/officeDocument/2006/relationships/extended-properties" Target="/docProps/app.xml" Id="Rcbe38843908749be" /><Relationship Type="http://schemas.openxmlformats.org/officeDocument/2006/relationships/officeDocument" Target="/ppt/presentation.xml" Id="Rd344ed847cac438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d759673e5794162"/>
  </p:sldMasterIdLst>
  <p:notesMasterIdLst>
    <p:notesMasterId xmlns:r="http://schemas.openxmlformats.org/officeDocument/2006/relationships" r:id="Ra2558ef0ec7c4fdb"/>
  </p:notesMasterIdLst>
  <p:sldIdLst>
    <p:sldId xmlns:r="http://schemas.openxmlformats.org/officeDocument/2006/relationships" id="256" r:id="Refa86f899e99474d"/>
    <p:sldId xmlns:r="http://schemas.openxmlformats.org/officeDocument/2006/relationships" id="257" r:id="R726374c3090141f9"/>
    <p:sldId xmlns:r="http://schemas.openxmlformats.org/officeDocument/2006/relationships" id="258" r:id="R30c21b5f7ff84176"/>
    <p:sldId xmlns:r="http://schemas.openxmlformats.org/officeDocument/2006/relationships" id="259" r:id="Re56a1158c7ea48dd"/>
    <p:sldId xmlns:r="http://schemas.openxmlformats.org/officeDocument/2006/relationships" id="260" r:id="R5e2928bb2a1b43f1"/>
    <p:sldId xmlns:r="http://schemas.openxmlformats.org/officeDocument/2006/relationships" id="261" r:id="R17fa88ae1c2541e0"/>
    <p:sldId xmlns:r="http://schemas.openxmlformats.org/officeDocument/2006/relationships" id="262" r:id="Rb24bb21004f44282"/>
    <p:sldId xmlns:r="http://schemas.openxmlformats.org/officeDocument/2006/relationships" id="263" r:id="R848ce12d45224655"/>
    <p:sldId xmlns:r="http://schemas.openxmlformats.org/officeDocument/2006/relationships" id="264" r:id="Re72a07ec5815405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cb2a3fc946049cc" /><Relationship Type="http://schemas.openxmlformats.org/officeDocument/2006/relationships/slideMaster" Target="/ppt/slideMasters/slideMaster1.xml" Id="Rad759673e5794162" /><Relationship Type="http://schemas.openxmlformats.org/officeDocument/2006/relationships/notesMaster" Target="/ppt/notesMasters/notesMaster1.xml" Id="Ra2558ef0ec7c4fdb" /><Relationship Type="http://schemas.openxmlformats.org/officeDocument/2006/relationships/presProps" Target="/ppt/presProps.xml" Id="Rbf06f64e96d84fda" /><Relationship Type="http://schemas.openxmlformats.org/officeDocument/2006/relationships/tableStyles" Target="/ppt/tableStyles.xml" Id="R8125699ed50c4b44" /><Relationship Type="http://schemas.openxmlformats.org/officeDocument/2006/relationships/slide" Target="/ppt/slides/slide1.xml" Id="Refa86f899e99474d" /><Relationship Type="http://schemas.openxmlformats.org/officeDocument/2006/relationships/slide" Target="/ppt/slides/slide2.xml" Id="R726374c3090141f9" /><Relationship Type="http://schemas.openxmlformats.org/officeDocument/2006/relationships/slide" Target="/ppt/slides/slide3.xml" Id="R30c21b5f7ff84176" /><Relationship Type="http://schemas.openxmlformats.org/officeDocument/2006/relationships/slide" Target="/ppt/slides/slide4.xml" Id="Re56a1158c7ea48dd" /><Relationship Type="http://schemas.openxmlformats.org/officeDocument/2006/relationships/slide" Target="/ppt/slides/slide5.xml" Id="R5e2928bb2a1b43f1" /><Relationship Type="http://schemas.openxmlformats.org/officeDocument/2006/relationships/slide" Target="/ppt/slides/slide6.xml" Id="R17fa88ae1c2541e0" /><Relationship Type="http://schemas.openxmlformats.org/officeDocument/2006/relationships/slide" Target="/ppt/slides/slide7.xml" Id="Rb24bb21004f44282" /><Relationship Type="http://schemas.openxmlformats.org/officeDocument/2006/relationships/slide" Target="/ppt/slides/slide8.xml" Id="R848ce12d45224655" /><Relationship Type="http://schemas.openxmlformats.org/officeDocument/2006/relationships/slide" Target="/ppt/slides/slide9.xml" Id="Re72a07ec5815405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25a9fff56b94de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9d63995eca14bbe" /><Relationship Type="http://schemas.openxmlformats.org/officeDocument/2006/relationships/notesMaster" Target="/ppt/notesMasters/notesMaster1.xml" Id="R3d0580e330b9446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cc04544d00a40eb" /><Relationship Type="http://schemas.openxmlformats.org/officeDocument/2006/relationships/notesMaster" Target="/ppt/notesMasters/notesMaster1.xml" Id="R406ec73febdd4fe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7fb233b39a648ba" /><Relationship Type="http://schemas.openxmlformats.org/officeDocument/2006/relationships/notesMaster" Target="/ppt/notesMasters/notesMaster1.xml" Id="R4cf36abd742144e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15861fd5f484af0" /><Relationship Type="http://schemas.openxmlformats.org/officeDocument/2006/relationships/notesMaster" Target="/ppt/notesMasters/notesMaster1.xml" Id="Rfb70b121d502449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05fe23557844778" /><Relationship Type="http://schemas.openxmlformats.org/officeDocument/2006/relationships/notesMaster" Target="/ppt/notesMasters/notesMaster1.xml" Id="R681ad362ff774bb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31da90e3cb44b04" /><Relationship Type="http://schemas.openxmlformats.org/officeDocument/2006/relationships/notesMaster" Target="/ppt/notesMasters/notesMaster1.xml" Id="R14dbc4b37e174a2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823c36e29e44de3" /><Relationship Type="http://schemas.openxmlformats.org/officeDocument/2006/relationships/notesMaster" Target="/ppt/notesMasters/notesMaster1.xml" Id="Re05d2f78431c4b9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f3d39d9c9594461" /><Relationship Type="http://schemas.openxmlformats.org/officeDocument/2006/relationships/notesMaster" Target="/ppt/notesMasters/notesMaster1.xml" Id="Re7c51b97f6dc40e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5f2477f28284d33" /><Relationship Type="http://schemas.openxmlformats.org/officeDocument/2006/relationships/notesMaster" Target="/ppt/notesMasters/notesMaster1.xml" Id="Raf55e3fda355440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https://github.com/rpozniak/sentry-swm2-qa/blob/main/REPORT.md</a:t>
            </a:r>
          </a:p>
          <a:p xmlns:a="http://schemas.openxmlformats.org/drawingml/2006/main">
            <a:r>
              <a:t>https://github.com/rpozniak/sentry-swm2-qa/blob/main/reference/COURSEWORK.pdf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https://github.com/rpozniak/sentry-swm2-qa/blob/main/docs/TEST_PLAN.md</a:t>
            </a:r>
          </a:p>
          <a:p xmlns:a="http://schemas.openxmlformats.org/drawingml/2006/main">
            <a:r>
              <a:t>https://github.com/rpozniak/sentry-swm2-qa/blob/main/docs/TEST_CASES.md</a:t>
            </a:r>
          </a:p>
          <a:p xmlns:a="http://schemas.openxmlformats.org/drawingml/2006/main">
            <a:r>
              <a:t>https://github.com/rpozniak/sentry-swm2-qa/blob/main/reference/COURSEWORK_SCOPE.png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https://github.com/rpozniak/sentry-swm2-qa/blob/main/tests/README.md</a:t>
            </a:r>
          </a:p>
          <a:p xmlns:a="http://schemas.openxmlformats.org/drawingml/2006/main">
            <a:r>
              <a:t>https://github.com/rpozniak/sentry-swm2-qa/blob/main/conftest.py</a:t>
            </a:r>
          </a:p>
          <a:p xmlns:a="http://schemas.openxmlformats.org/drawingml/2006/main">
            <a:r>
              <a:t>https://github.com/rpozniak/sentry-swm2-qa/blob/main/framework/device_driver.py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https://github.com/rpozniak/sentry-swm2-qa/blob/main/docs/TEST_CASES.md</a:t>
            </a:r>
          </a:p>
          <a:p xmlns:a="http://schemas.openxmlformats.org/drawingml/2006/main">
            <a:r>
              <a:t>https://github.com/rpozniak/sentry-swm2-qa/blob/main/docs/TRACEABILITY.md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https://github.com/rpozniak/sentry-swm2-qa/blob/main/REPORT.md</a:t>
            </a:r>
          </a:p>
          <a:p xmlns:a="http://schemas.openxmlformats.org/drawingml/2006/main">
            <a:r>
              <a:t>https://github.com/rpozniak/sentry-swm2-qa/blob/main/docs/EXECUTION_RESULTS.md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https://github.com/rpozniak/sentry-swm2-qa/blob/main/REPORT.md</a:t>
            </a:r>
          </a:p>
          <a:p xmlns:a="http://schemas.openxmlformats.org/drawingml/2006/main">
            <a:r>
              <a:t>https://github.com/rpozniak/sentry-swm2-qa/blob/main/bugs/BUG-LM-01.md</a:t>
            </a:r>
          </a:p>
          <a:p xmlns:a="http://schemas.openxmlformats.org/drawingml/2006/main">
            <a:r>
              <a:t>https://github.com/rpozniak/sentry-swm2-qa/blob/main/bugs/BUG-RL-01.md</a:t>
            </a:r>
          </a:p>
          <a:p xmlns:a="http://schemas.openxmlformats.org/drawingml/2006/main">
            <a:r>
              <a:t>https://github.com/rpozniak/sentry-swm2-qa/blob/main/bugs/BUG-RL-02.md</a:t>
            </a:r>
          </a:p>
          <a:p xmlns:a="http://schemas.openxmlformats.org/drawingml/2006/main">
            <a:r>
              <a:t>https://github.com/rpozniak/sentry-swm2-qa/blob/main/bugs/BUG-HL-01.md</a:t>
            </a:r>
          </a:p>
          <a:p xmlns:a="http://schemas.openxmlformats.org/drawingml/2006/main">
            <a:r>
              <a:t>https://github.com/rpozniak/sentry-swm2-qa/blob/main/bugs/BUG-AU-01.md</a:t>
            </a:r>
          </a:p>
          <a:p xmlns:a="http://schemas.openxmlformats.org/drawingml/2006/main">
            <a:r>
              <a:t>https://github.com/rpozniak/sentry-swm2-qa/blob/main/bugs/BUG-AL-01.md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https://github.com/rpozniak/sentry-swm2-qa/blob/main/bugs/BUG-AL-01.md</a:t>
            </a:r>
          </a:p>
          <a:p xmlns:a="http://schemas.openxmlformats.org/drawingml/2006/main">
            <a:r>
              <a:t>https://github.com/rpozniak/sentry-swm2-qa/blob/main/logs/beta-recheck-01/TC-AL-03_base.log</a:t>
            </a:r>
          </a:p>
          <a:p xmlns:a="http://schemas.openxmlformats.org/drawingml/2006/main">
            <a:r>
              <a:t>https://github.com/rpozniak/sentry-swm2-qa/blob/main/logs/beta-recheck-01/TC-AL-04_base.log</a:t>
            </a:r>
          </a:p>
          <a:p xmlns:a="http://schemas.openxmlformats.org/drawingml/2006/main">
            <a:r>
              <a:t>https://github.com/rpozniak/sentry-swm2-qa/blob/main/reference/PRD.md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https://github.com/rpozniak/sentry-swm2-qa/blob/main/docs/HIL_STAND.md</a:t>
            </a:r>
          </a:p>
          <a:p xmlns:a="http://schemas.openxmlformats.org/drawingml/2006/main">
            <a:r>
              <a:t>https://github.com/rpozniak/sentry-swm2-qa/blob/main/docs/assets/HIL_STAND.png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https://github.com/rpozniak/sentry-swm2-qa/blob/main/REPORT.md</a:t>
            </a:r>
          </a:p>
          <a:p xmlns:a="http://schemas.openxmlformats.org/drawingml/2006/main">
            <a:r>
              <a:t>https://github.com/rpozniak/sentry-swm2-qa/blob/main/docs/TRACEABILITY.md</a:t>
            </a:r>
          </a:p>
          <a:p xmlns:a="http://schemas.openxmlformats.org/drawingml/2006/main">
            <a:r>
              <a:t>https://github.com/rpozniak/sentry-swm2-qa/blob/main/docs/MANUAL_RUN.md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2de00001c74ac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ea5bf283d4497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4d9b183e334cf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d848d069cc4ae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1b7ae12a7e4e1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800cf844974a6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0434414-7FD2-4B3F-A4B0-8C31566208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36BE9FC-E4D5-48C0-8DC1-AB3D7D83098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C5B6052-41FD-459C-B93D-5E973952F1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6B88F1-5A24-4CBA-B441-97D51252E2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E1AE55F-5E87-44FB-954E-6BA0CEB42A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8FEEDC2-FAEB-4D12-A72A-E6F0F1359C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2092633-6D1E-4400-82DC-AB7962BBDA2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B372027-34E7-4410-85B5-82E4EF199FD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FB45107-C374-4874-AFEA-D6437E739B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0C7EC32-CC10-4533-8D4E-8479219D2A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ddc76cc5e7b4d88" /><Relationship Type="http://schemas.openxmlformats.org/officeDocument/2006/relationships/slideLayout" Target="/ppt/slideLayouts/slideLayout1.xml" Id="R46d3d02ef02c4f93" /><Relationship Type="http://schemas.openxmlformats.org/officeDocument/2006/relationships/slideLayout" Target="/ppt/slideLayouts/slideLayout2.xml" Id="Rd1feb265d64d426c" /><Relationship Type="http://schemas.openxmlformats.org/officeDocument/2006/relationships/slideLayout" Target="/ppt/slideLayouts/slideLayout3.xml" Id="R311254bf565441b7" /><Relationship Type="http://schemas.openxmlformats.org/officeDocument/2006/relationships/slideLayout" Target="/ppt/slideLayouts/slideLayout4.xml" Id="R76ddeddc4f4540da" /><Relationship Type="http://schemas.openxmlformats.org/officeDocument/2006/relationships/slideLayout" Target="/ppt/slideLayouts/slideLayout5.xml" Id="Rce2cea8342c9430c" /><Relationship Type="http://schemas.openxmlformats.org/officeDocument/2006/relationships/slideLayout" Target="/ppt/slideLayouts/slideLayout6.xml" Id="R1e0383397e57496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6d3d02ef02c4f93"/>
    <p:sldLayoutId xmlns:r="http://schemas.openxmlformats.org/officeDocument/2006/relationships" id="2147483650" r:id="Rd1feb265d64d426c"/>
    <p:sldLayoutId xmlns:r="http://schemas.openxmlformats.org/officeDocument/2006/relationships" id="2147483651" r:id="R311254bf565441b7"/>
    <p:sldLayoutId xmlns:r="http://schemas.openxmlformats.org/officeDocument/2006/relationships" id="2147483652" r:id="R76ddeddc4f4540da"/>
    <p:sldLayoutId xmlns:r="http://schemas.openxmlformats.org/officeDocument/2006/relationships" id="2147483653" r:id="Rce2cea8342c9430c"/>
    <p:sldLayoutId xmlns:r="http://schemas.openxmlformats.org/officeDocument/2006/relationships" id="2147483654" r:id="R1e0383397e57496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9ede4d46df43bd" /><Relationship Type="http://schemas.openxmlformats.org/officeDocument/2006/relationships/notesSlide" Target="/ppt/notesSlides/notesSlide1.xml" Id="R0b80b078440049b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cf03c2534b499d" /><Relationship Type="http://schemas.openxmlformats.org/officeDocument/2006/relationships/notesSlide" Target="/ppt/notesSlides/notesSlide2.xml" Id="Rea06faa72f5542d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27aa764fad4d54" /><Relationship Type="http://schemas.openxmlformats.org/officeDocument/2006/relationships/notesSlide" Target="/ppt/notesSlides/notesSlide3.xml" Id="Re7e8146b58ef420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f4879a5fba4cb4" /><Relationship Type="http://schemas.openxmlformats.org/officeDocument/2006/relationships/notesSlide" Target="/ppt/notesSlides/notesSlide4.xml" Id="R78e57a7cc23d428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73237ebf98467e" /><Relationship Type="http://schemas.openxmlformats.org/officeDocument/2006/relationships/notesSlide" Target="/ppt/notesSlides/notesSlide5.xml" Id="R9d3040ff746c4e2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aa31534744447b" /><Relationship Type="http://schemas.openxmlformats.org/officeDocument/2006/relationships/notesSlide" Target="/ppt/notesSlides/notesSlide6.xml" Id="Rf90f8bac32ff454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3641b67a5b49f3" /><Relationship Type="http://schemas.openxmlformats.org/officeDocument/2006/relationships/notesSlide" Target="/ppt/notesSlides/notesSlide7.xml" Id="Rf1649ece3907409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32a88c218f4090" /><Relationship Type="http://schemas.openxmlformats.org/officeDocument/2006/relationships/image" Target="/ppt/media/image.png" Id="R937de78a41bd47a1" /><Relationship Type="http://schemas.openxmlformats.org/officeDocument/2006/relationships/notesSlide" Target="/ppt/notesSlides/notesSlide8.xml" Id="Rf08f842d011b4b2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98ade4fb8846bb" /><Relationship Type="http://schemas.openxmlformats.org/officeDocument/2006/relationships/notesSlide" Target="/ppt/notesSlides/notesSlide9.xml" Id="Rc5875d5fa937455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326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1FDD63-2576-4BC2-B847-1F09C866D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SENTRY SWM-2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58A4B1-C6BD-47C5-A37D-50D18D1DC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4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4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4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4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4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4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4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4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4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Приймальні випробування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C77AAD-E7E6-489A-AD84-F64EE7949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defPPr>
            <a:lvl1pPr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1pPr>
            <a:lvl2pPr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2pPr>
            <a:lvl3pPr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3pPr>
            <a:lvl4pPr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4pPr>
            <a:lvl5pPr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5pPr>
            <a:lvl6pPr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6pPr>
            <a:lvl7pPr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7pPr>
            <a:lvl8pPr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8pPr>
            <a:lvl9pPr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6DE0D3"/>
                </a:solidFill>
                <a:latin typeface="Arial"/>
                <a:ea typeface="Arial"/>
                <a:cs typeface="Arial"/>
              </a:rPr>
              <a:t>2.1.0 stable → 2.3.0 beta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EF16DE-5D2D-4F48-A076-C3E1FD2C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6D4E1"/>
                </a:solidFill>
                <a:latin typeface="Arial"/>
                <a:ea typeface="Arial"/>
                <a:cs typeface="Arial"/>
              </a:rPr>
              <a:t>Embedded QA Engineer · Курсовий проєкт</a:t>
            </a:r>
          </a:p>
        </p:txBody>
      </p:sp>
    </p:spTree>
    <p:extLst>
      <p:ext uri="{BB962C8B-B14F-4D97-AF65-F5344CB8AC3E}">
        <p14:creationId xmlns:p14="http://schemas.microsoft.com/office/powerpoint/2010/main" val="14593720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E67E86-1CD3-4F19-9F02-CA7366F0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П’ять обраних фіч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ED9320-24F0-4F85-985B-CBBEF5EF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67A9D1-554F-4EAF-90A5-B17686434504}"/>
              </a:ext>
            </a:extLst>
          </p:cNvPr>
          <p:cNvGraphicFramePr/>
          <p:nvPr/>
        </p:nvGraphicFramePr>
        <p:xfrm>
          <a:off xmlns:a="http://schemas.openxmlformats.org/drawingml/2006/main" x="609600" y="1562100"/>
          <a:ext xmlns:a="http://schemas.openxmlformats.org/drawingml/2006/main" cx="10972800" cy="3467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6381750"/>
                <a:gridCol w="2305050"/>
              </a:tblGrid>
              <a:tr h="5778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Фіча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Основні перевірки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Кейсів / Auto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</a:tr>
              <a:tr h="5778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Лампа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RGB, яскравість, таймер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10 / 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78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Реле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Стан, pulse, schedule, cycles, NVS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9 / 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  <a:tr h="5778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Телеметрія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Поля, межі інтервалу, off, NVS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5 / 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78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Акаунт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Вхід, lockout, пароль, logout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6 / 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  <a:tr h="5778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Alert center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E099 у stable; test, ack, clear у beta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6 / 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C42C84-87A2-4321-9490-5CA67C695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36 кейсів: 32 Auto та 4 Manual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C8A8B3-D2B0-4A1B-AABB-86EAEB55E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668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Обсяг технічної здачі за уточненням куратора; прогалини PRD наведені в матриці.</a:t>
            </a:r>
          </a:p>
        </p:txBody>
      </p:sp>
    </p:spTree>
    <p:extLst>
      <p:ext uri="{BB962C8B-B14F-4D97-AF65-F5344CB8AC3E}">
        <p14:creationId xmlns:p14="http://schemas.microsoft.com/office/powerpoint/2010/main" val="95011875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2D1808-9453-4428-B979-EB6572748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Фреймворк і реальний UART-стенд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C4F18D-364B-4888-A659-2C30D36DE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D483DC-E399-4EB1-B858-C741B9C2E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pytest → фікстури → UART-драйвер → ESP32-S3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4F991F-C478-41CF-831B-8FA2F6CED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Підключення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8FCBAA-5491-400E-A203-1BAD4B23B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90775"/>
            <a:ext cx="7715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Mac, USB/UART 115200 8N1</a:t>
            </a:r>
          </a:p>
          <a:p xmlns:a="http://schemas.openxmlformats.org/drawingml/2006/main">
            <a: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Автопошук порта за VID 1A86 або --port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F9F76F-04FF-474C-A696-ABDDDC609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Фікстури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1C11A2-D96A-4A59-ABB8-B6B44292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33775"/>
            <a:ext cx="7715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dut: одна сесія UART, версія й авторизація</a:t>
            </a:r>
          </a:p>
          <a:p xmlns:a="http://schemas.openxmlformats.org/drawingml/2006/main">
            <a: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device: передумови, лог і очищення кожного кейсу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EE41E2-818E-4591-B3CD-A15F69782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Докази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C12269-0C8C-4EF3-85AB-39215FA54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00600"/>
            <a:ext cx="7715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Окремі TX/RX-логи з часовими мітками</a:t>
            </a:r>
          </a:p>
          <a:p xmlns:a="http://schemas.openxmlformats.org/drawingml/2006/main">
            <a: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Паролі приховуються; JSON, Markdown і JUnit-звіти</a:t>
            </a:r>
          </a:p>
        </p:txBody>
      </p:sp>
    </p:spTree>
    <p:extLst>
      <p:ext uri="{BB962C8B-B14F-4D97-AF65-F5344CB8AC3E}">
        <p14:creationId xmlns:p14="http://schemas.microsoft.com/office/powerpoint/2010/main" val="124789101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F7C233-9C88-4798-8D8A-D7AF4631A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Тест-дизайн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3A3779-A124-4C33-BABA-1D0C6153F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35CEBC-C431-41D3-BCD8-965EEE49B6CE}"/>
              </a:ext>
            </a:extLst>
          </p:cNvPr>
          <p:cNvGraphicFramePr/>
          <p:nvPr/>
        </p:nvGraphicFramePr>
        <p:xfrm>
          <a:off xmlns:a="http://schemas.openxmlformats.org/drawingml/2006/main" x="609600" y="1657350"/>
          <a:ext xmlns:a="http://schemas.openxmlformats.org/drawingml/2006/main" cx="10972800" cy="2647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3771900"/>
                <a:gridCol w="3771900"/>
              </a:tblGrid>
              <a:tr h="66198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Перевірка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Допустимі значення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За межами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</a:tr>
              <a:tr h="66198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relay pulse, мс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100, 1000, 10000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−1, 0, 99, 10001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198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health interval, с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10, 300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9, 301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  <a:tr h="66198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Довжина пароля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6, 32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5, 33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6E1EC-48C0-4E2C-95B5-C5E838E4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Переходи станів: on / off / toggle, lockout та clear alerts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8E2A2F-A658-491A-81D8-EF4058A7D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Збереження після reboot: cycles, інтервал health, пароль</a:t>
            </a:r>
          </a:p>
          <a:p xmlns:a="http://schemas.openxmlformats.org/drawingml/2006/main">
            <a: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Кожен параметр має власний результат і повний UART-лог.</a:t>
            </a:r>
          </a:p>
        </p:txBody>
      </p:sp>
    </p:spTree>
    <p:extLst>
      <p:ext uri="{BB962C8B-B14F-4D97-AF65-F5344CB8AC3E}">
        <p14:creationId xmlns:p14="http://schemas.microsoft.com/office/powerpoint/2010/main" val="11482131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C76F4E-F38A-4109-946F-52E99C73F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Результати двох версій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9992F1-5B57-4B57-93D8-0F6F7CA20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BCD297-A369-45D4-B2DD-1A7BC2834A22}"/>
              </a:ext>
            </a:extLst>
          </p:cNvPr>
          <p:cNvGraphicFramePr/>
          <p:nvPr/>
        </p:nvGraphicFramePr>
        <p:xfrm>
          <a:off xmlns:a="http://schemas.openxmlformats.org/drawingml/2006/main" x="609600" y="1657350"/>
          <a:ext xmlns:a="http://schemas.openxmlformats.org/drawingml/2006/main" cx="10972800" cy="2171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1790700"/>
                <a:gridCol w="1790700"/>
                <a:gridCol w="1790700"/>
                <a:gridCol w="1790700"/>
              </a:tblGrid>
              <a:tr h="72390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Версія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Pass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Fail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N/A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Blocked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2.1.0 stable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57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2.3.0 beta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63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5D17CD-8EF4-4B08-B80D-CF4226F3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70 автоматизованих варіантів на версію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C5E2A8-FD7A-4471-9804-94B210CB5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62525"/>
            <a:ext cx="106680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N/A: функція не застосовується до конкретної версії.</a:t>
            </a:r>
          </a:p>
          <a:p xmlns:a="http://schemas.openxmlformats.org/drawingml/2006/main">
            <a: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Повторні відтворення не збільшують підсумок основних прогонів.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D367B3-8D90-4056-A939-75A66D4F2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4 ручні кейси на кожній версії: Not Run</a:t>
            </a:r>
          </a:p>
        </p:txBody>
      </p:sp>
    </p:spTree>
    <p:extLst>
      <p:ext uri="{BB962C8B-B14F-4D97-AF65-F5344CB8AC3E}">
        <p14:creationId xmlns:p14="http://schemas.microsoft.com/office/powerpoint/2010/main" val="20960058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1D2CEA-CA20-4678-983B-5A9FD8AA1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Шість знайдених дефектів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CD8289-97B4-483E-ABB3-1D650861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777EE0-77D9-47D7-9AFC-955CCEBEEB08}"/>
              </a:ext>
            </a:extLst>
          </p:cNvPr>
          <p:cNvGraphicFramePr/>
          <p:nvPr/>
        </p:nvGraphicFramePr>
        <p:xfrm>
          <a:off xmlns:a="http://schemas.openxmlformats.org/drawingml/2006/main" x="609600" y="1533525"/>
          <a:ext xmlns:a="http://schemas.openxmlformats.org/drawingml/2006/main" cx="10972800" cy="3943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6286500"/>
                <a:gridCol w="1628775"/>
                <a:gridCol w="1628775"/>
              </a:tblGrid>
              <a:tr h="563336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Проблема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2.1.0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2.3.0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LM-01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lamp timer: ms у повідомленні замість 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Не відтв.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RL-01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pulse 99 виконується замість E603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RL-02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Одне перемикання додає 2 до cycles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Не відтв.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HL-01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Допустимий health interval 300 відхиляється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Не відтв.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AU-01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Новий пароль не зберігається після reboot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Не відтв.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AL-01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Наявний alert ID відхиляється з E851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N/A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93AE58-D6D2-48EC-A72B-F37597851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Повні ID мають префікс BUG-. У beta лишаються RL-01 та AL-01.</a:t>
            </a:r>
          </a:p>
        </p:txBody>
      </p:sp>
    </p:spTree>
    <p:extLst>
      <p:ext uri="{BB962C8B-B14F-4D97-AF65-F5344CB8AC3E}">
        <p14:creationId xmlns:p14="http://schemas.microsoft.com/office/powerpoint/2010/main" val="35325397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5E8A6C-90D8-4805-AF7F-70055D7C3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Наявний alert ID повертає E851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E5F8BF-24E9-4179-866A-AFA4FA32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7BB893-3DE8-4320-8991-ADCEA3A68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AL-3: ack &lt;id&gt; має підтвердити саме вибраний запис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423082-4FC9-4D69-92CD-A70BA891F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86025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Фрагмент фактичного UART-логу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DC2477-6945-4733-A62D-4D1FE9ED4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6191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[CIC #1 INFO] test: test alert</a:t>
            </a:r>
          </a:p>
          <a:p xmlns:a="http://schemas.openxmlformats.org/drawingml/2006/main">
            <a: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[CIC #2 INFO] test: test alert</a:t>
            </a:r>
          </a:p>
          <a:p xmlns:a="http://schemas.openxmlformats.org/drawingml/2006/main">
            <a: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TX alert ack 1</a:t>
            </a:r>
          </a:p>
          <a:p xmlns:a="http://schemas.openxmlformats.org/drawingml/2006/main">
            <a: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E851 no alert #1</a:t>
            </a:r>
          </a:p>
          <a:p xmlns:a="http://schemas.openxmlformats.org/drawingml/2006/main">
            <a: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[CIC] 2 alerts, 2 unacknowledged: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136EAA-4F1F-42AD-861E-F8A8D4714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43175"/>
            <a:ext cx="39433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B42336"/>
                </a:solidFill>
                <a:latin typeface="Arial"/>
                <a:ea typeface="Arial"/>
                <a:cs typeface="Arial"/>
              </a:rPr>
              <a:t>Непідтверджений ID</a:t>
            </a:r>
          </a:p>
          <a:p xmlns:a="http://schemas.openxmlformats.org/drawingml/2006/main">
            <a:pPr>
              <a:defRPr sz="21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B42336"/>
                </a:solidFill>
                <a:latin typeface="Arial"/>
                <a:ea typeface="Arial"/>
                <a:cs typeface="Arial"/>
              </a:rPr>
              <a:t>Відтворення: 3/3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BD4DDB-4F98-45ED-B1B7-43BCD5CBA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924300"/>
            <a:ext cx="3943350" cy="1724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Після ack all</a:t>
            </a:r>
          </a:p>
          <a:p xmlns:a="http://schemas.openxmlformats.org/drawingml/2006/main">
            <a: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Для вже підтвердженого ID:</a:t>
            </a:r>
          </a:p>
          <a:p xmlns:a="http://schemas.openxmlformats.org/drawingml/2006/main">
            <a: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E851 замість W852</a:t>
            </a:r>
          </a:p>
          <a:p xmlns:a="http://schemas.openxmlformats.org/drawingml/2006/main">
            <a: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Контроль: 2/2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557D11-4591-4FFC-AAEA-DFC4B4327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2.1.0: N/A, Alert center з’явився у 2.3.0. Регресію не заявлено.</a:t>
            </a:r>
          </a:p>
        </p:txBody>
      </p:sp>
    </p:spTree>
    <p:extLst>
      <p:ext uri="{BB962C8B-B14F-4D97-AF65-F5344CB8AC3E}">
        <p14:creationId xmlns:p14="http://schemas.microsoft.com/office/powerpoint/2010/main" val="106717764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448332-4F00-4DEA-99FE-47601CD6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Теоретичний HIL-стенд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4E2F06-CDF0-4CB2-95CC-2457632C9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24FDE0-20A5-4A86-9B64-AA2BBF1340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7de78a41bd47a1"/>
          <a:stretch xmlns:a="http://schemas.openxmlformats.org/drawingml/2006/main"/>
        </p:blipFill>
        <p:spPr>
          <a:xfrm xmlns:a="http://schemas.openxmlformats.org/drawingml/2006/main">
            <a:off x="381000" y="1201189"/>
            <a:ext cx="8039100" cy="5408122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1A6FA4-73FF-4270-A6FC-0C634C744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65735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Raspberry Pi + pytest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D2F1B1-D5ED-4834-8D86-6F0688E4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667000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RP2040 імітує кнопки</a:t>
            </a:r>
          </a:p>
          <a:p xmlns:a="http://schemas.openxmlformats.org/drawingml/2006/main">
            <a: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та ECHO датчика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AF85F2-6EDE-4965-B382-B270AECE2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867150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Контакти, LED і кінцевики</a:t>
            </a:r>
          </a:p>
          <a:p xmlns:a="http://schemas.openxmlformats.org/drawingml/2006/main">
            <a: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дають зворотний зв’язок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84869C-C665-4725-9F6C-E4E2D2FE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143500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CI зберігає докази;</a:t>
            </a:r>
          </a:p>
          <a:p xmlns:a="http://schemas.openxmlformats.org/drawingml/2006/main">
            <a: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Mosquitto передає події</a:t>
            </a:r>
          </a:p>
        </p:txBody>
      </p:sp>
    </p:spTree>
    <p:extLst>
      <p:ext uri="{BB962C8B-B14F-4D97-AF65-F5344CB8AC3E}">
        <p14:creationId xmlns:p14="http://schemas.microsoft.com/office/powerpoint/2010/main" val="19286770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821F03-8643-4692-89AE-A5E3A1CE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Висновок щодо 2.3.0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71CCDF-DAB4-409F-9ED5-13AF7C40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299937-A8B5-47EA-9E71-F2F3A9F69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defPPr>
            <a:lvl1pPr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1pPr>
            <a:lvl2pPr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2pPr>
            <a:lvl3pPr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3pPr>
            <a:lvl4pPr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4pPr>
            <a:lvl5pPr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5pPr>
            <a:lvl6pPr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6pPr>
            <a:lvl7pPr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7pPr>
            <a:lvl8pPr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8pPr>
            <a:lvl9pPr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B42336"/>
                </a:solidFill>
                <a:latin typeface="Arial"/>
                <a:ea typeface="Arial"/>
                <a:cs typeface="Arial"/>
              </a:rPr>
              <a:t>NO-GO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1F1C28-B87A-4CB8-9AD2-056E36664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72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Недопустимий pulse 99 виконується</a:t>
            </a:r>
          </a:p>
          <a:p xmlns:a="http://schemas.openxmlformats.org/drawingml/2006/main">
            <a:pPr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Підтвердження наявного alert за ID не працює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F54D4B-903D-4532-A620-8565B9EEA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10972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Не виконано фізичні перевірки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259A81-1587-41F3-A7A0-35E8590C7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24425"/>
            <a:ext cx="109728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Кольори RGB · Яскравість у режимах</a:t>
            </a:r>
          </a:p>
          <a:p xmlns:a="http://schemas.openxmlformats.org/drawingml/2006/main">
            <a:pPr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Зовнішній LED · Контакти реле</a:t>
            </a:r>
          </a:p>
          <a:p xmlns:a="http://schemas.openxmlformats.org/drawingml/2006/main">
            <a:pPr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Статус: Not Run на обох версіях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841F51-0499-4005-BA9B-08C70FE1E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87F8C"/>
                </a:solidFill>
                <a:latin typeface="Arial"/>
                <a:ea typeface="Arial"/>
                <a:cs typeface="Arial"/>
              </a:rPr>
              <a:t>github.com/rpozniak/sentry-swm2-qa</a:t>
            </a:r>
          </a:p>
        </p:txBody>
      </p:sp>
    </p:spTree>
    <p:extLst>
      <p:ext uri="{BB962C8B-B14F-4D97-AF65-F5344CB8AC3E}">
        <p14:creationId xmlns:p14="http://schemas.microsoft.com/office/powerpoint/2010/main" val="19652010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2026-10-24T19:51:50.5960000Z</dcterms:created>
  <dcterms:modified xsi:type="dcterms:W3CDTF">2026-10-24T19:51:50.5960000Z</dcterms:modified>
</coreProperties>
</file>