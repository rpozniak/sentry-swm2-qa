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f48120693f41ea" /><Relationship Type="http://schemas.openxmlformats.org/officeDocument/2006/relationships/extended-properties" Target="/docProps/app.xml" Id="R1ee03a1c01f84aba" /><Relationship Type="http://schemas.openxmlformats.org/officeDocument/2006/relationships/officeDocument" Target="/ppt/presentation.xml" Id="Racb167635ce945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5d7a4d567042dd"/>
  </p:sldMasterIdLst>
  <p:notesMasterIdLst>
    <p:notesMasterId xmlns:r="http://schemas.openxmlformats.org/officeDocument/2006/relationships" r:id="Ra20ea0f4e6de4122"/>
  </p:notesMasterIdLst>
  <p:sldIdLst>
    <p:sldId xmlns:r="http://schemas.openxmlformats.org/officeDocument/2006/relationships" id="256" r:id="R3e67400028fe460b"/>
    <p:sldId xmlns:r="http://schemas.openxmlformats.org/officeDocument/2006/relationships" id="257" r:id="Rffc2e9bc025049f8"/>
    <p:sldId xmlns:r="http://schemas.openxmlformats.org/officeDocument/2006/relationships" id="258" r:id="Re956adbb559c47e8"/>
    <p:sldId xmlns:r="http://schemas.openxmlformats.org/officeDocument/2006/relationships" id="259" r:id="R4fea5c342c484c67"/>
    <p:sldId xmlns:r="http://schemas.openxmlformats.org/officeDocument/2006/relationships" id="260" r:id="R9cc14a470c784711"/>
    <p:sldId xmlns:r="http://schemas.openxmlformats.org/officeDocument/2006/relationships" id="261" r:id="Re8c7515484764b4a"/>
    <p:sldId xmlns:r="http://schemas.openxmlformats.org/officeDocument/2006/relationships" id="262" r:id="Rb01eaa1d787e4a98"/>
    <p:sldId xmlns:r="http://schemas.openxmlformats.org/officeDocument/2006/relationships" id="263" r:id="R52e5646e3c1d463c"/>
    <p:sldId xmlns:r="http://schemas.openxmlformats.org/officeDocument/2006/relationships" id="264" r:id="Rd68084c273194b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aa74d5cff54ad6" /><Relationship Type="http://schemas.openxmlformats.org/officeDocument/2006/relationships/slideMaster" Target="/ppt/slideMasters/slideMaster1.xml" Id="R175d7a4d567042dd" /><Relationship Type="http://schemas.openxmlformats.org/officeDocument/2006/relationships/notesMaster" Target="/ppt/notesMasters/notesMaster1.xml" Id="Ra20ea0f4e6de4122" /><Relationship Type="http://schemas.openxmlformats.org/officeDocument/2006/relationships/presProps" Target="/ppt/presProps.xml" Id="Rce22a744fd614a62" /><Relationship Type="http://schemas.openxmlformats.org/officeDocument/2006/relationships/tableStyles" Target="/ppt/tableStyles.xml" Id="R0bf0b93c61ef49c8" /><Relationship Type="http://schemas.openxmlformats.org/officeDocument/2006/relationships/slide" Target="/ppt/slides/slide1.xml" Id="R3e67400028fe460b" /><Relationship Type="http://schemas.openxmlformats.org/officeDocument/2006/relationships/slide" Target="/ppt/slides/slide2.xml" Id="Rffc2e9bc025049f8" /><Relationship Type="http://schemas.openxmlformats.org/officeDocument/2006/relationships/slide" Target="/ppt/slides/slide3.xml" Id="Re956adbb559c47e8" /><Relationship Type="http://schemas.openxmlformats.org/officeDocument/2006/relationships/slide" Target="/ppt/slides/slide4.xml" Id="R4fea5c342c484c67" /><Relationship Type="http://schemas.openxmlformats.org/officeDocument/2006/relationships/slide" Target="/ppt/slides/slide5.xml" Id="R9cc14a470c784711" /><Relationship Type="http://schemas.openxmlformats.org/officeDocument/2006/relationships/slide" Target="/ppt/slides/slide6.xml" Id="Re8c7515484764b4a" /><Relationship Type="http://schemas.openxmlformats.org/officeDocument/2006/relationships/slide" Target="/ppt/slides/slide7.xml" Id="Rb01eaa1d787e4a98" /><Relationship Type="http://schemas.openxmlformats.org/officeDocument/2006/relationships/slide" Target="/ppt/slides/slide8.xml" Id="R52e5646e3c1d463c" /><Relationship Type="http://schemas.openxmlformats.org/officeDocument/2006/relationships/slide" Target="/ppt/slides/slide9.xml" Id="Rd68084c273194b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1e34af13184c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b069ade3954e0a" /><Relationship Type="http://schemas.openxmlformats.org/officeDocument/2006/relationships/notesMaster" Target="/ppt/notesMasters/notesMaster1.xml" Id="R2b9d9a36263045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3278b08a5f4632" /><Relationship Type="http://schemas.openxmlformats.org/officeDocument/2006/relationships/notesMaster" Target="/ppt/notesMasters/notesMaster1.xml" Id="Rb1dbbc46c00b40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194445ce5a4cdb" /><Relationship Type="http://schemas.openxmlformats.org/officeDocument/2006/relationships/notesMaster" Target="/ppt/notesMasters/notesMaster1.xml" Id="R3a42757252864e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760f65472a4fc4" /><Relationship Type="http://schemas.openxmlformats.org/officeDocument/2006/relationships/notesMaster" Target="/ppt/notesMasters/notesMaster1.xml" Id="Rc0af3ed7d4a249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55cb29c7824c34" /><Relationship Type="http://schemas.openxmlformats.org/officeDocument/2006/relationships/notesMaster" Target="/ppt/notesMasters/notesMaster1.xml" Id="R6a34f90e74a649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40b4a44da545ec" /><Relationship Type="http://schemas.openxmlformats.org/officeDocument/2006/relationships/notesMaster" Target="/ppt/notesMasters/notesMaster1.xml" Id="R1aac5141c96f4d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39c56b4e084121" /><Relationship Type="http://schemas.openxmlformats.org/officeDocument/2006/relationships/notesMaster" Target="/ppt/notesMasters/notesMaster1.xml" Id="R1b8fb5e6631b44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8851b659bc426e" /><Relationship Type="http://schemas.openxmlformats.org/officeDocument/2006/relationships/notesMaster" Target="/ppt/notesMasters/notesMaster1.xml" Id="Rb0964594a1bc42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680488fc0d4f63" /><Relationship Type="http://schemas.openxmlformats.org/officeDocument/2006/relationships/notesMaster" Target="/ppt/notesMasters/notesMaster1.xml" Id="R589c5da29c9d41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https://github.com/rpozniak/sentry-swm2-qa/blob/main/REPORT.md</a:t>
            </a:r>
          </a:p>
          <a:p xmlns:a="http://schemas.openxmlformats.org/drawingml/2006/main">
            <a:r>
              <a:t>https://github.com/rpozniak/sentry-swm2-qa/blob/main/reference/COURSEWORK.pdf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https://github.com/rpozniak/sentry-swm2-qa/blob/main/reference/PRD.md</a:t>
            </a:r>
          </a:p>
          <a:p xmlns:a="http://schemas.openxmlformats.org/drawingml/2006/main">
            <a:r>
              <a:t>Фото ESP32-S3 надане користувачем.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https://github.com/rpozniak/sentry-swm2-qa/blob/main/docs/TEST_PLAN.md</a:t>
            </a:r>
          </a:p>
          <a:p xmlns:a="http://schemas.openxmlformats.org/drawingml/2006/main">
            <a:r>
              <a:t>https://github.com/rpozniak/sentry-swm2-qa/blob/main/docs/TEST_CASES.md</a:t>
            </a:r>
          </a:p>
          <a:p xmlns:a="http://schemas.openxmlformats.org/drawingml/2006/main">
            <a:r>
              <a:t>https://github.com/rpozniak/sentry-swm2-qa/blob/main/reference/COURSEWORK_SCOPE.png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https://github.com/rpozniak/sentry-swm2-qa/blob/main/tests/README.md</a:t>
            </a:r>
          </a:p>
          <a:p xmlns:a="http://schemas.openxmlformats.org/drawingml/2006/main">
            <a:r>
              <a:t>https://github.com/rpozniak/sentry-swm2-qa/blob/main/conftest.py</a:t>
            </a:r>
          </a:p>
          <a:p xmlns:a="http://schemas.openxmlformats.org/drawingml/2006/main">
            <a:r>
              <a:t>https://github.com/rpozniak/sentry-swm2-qa/blob/main/framework/device_driver.py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https://github.com/rpozniak/sentry-swm2-qa/blob/main/docs/TEST_CASES.md</a:t>
            </a:r>
          </a:p>
          <a:p xmlns:a="http://schemas.openxmlformats.org/drawingml/2006/main">
            <a:r>
              <a:t>https://github.com/rpozniak/sentry-swm2-qa/blob/main/docs/TRACEABILITY.md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https://github.com/rpozniak/sentry-swm2-qa/blob/main/REPORT.md</a:t>
            </a:r>
          </a:p>
          <a:p xmlns:a="http://schemas.openxmlformats.org/drawingml/2006/main">
            <a:r>
              <a:t>https://github.com/rpozniak/sentry-swm2-qa/blob/main/docs/EXECUTION_RESULTS.md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https://github.com/rpozniak/sentry-swm2-qa/blob/main/REPORT.md</a:t>
            </a:r>
          </a:p>
          <a:p xmlns:a="http://schemas.openxmlformats.org/drawingml/2006/main">
            <a:r>
              <a:t>https://github.com/rpozniak/sentry-swm2-qa/blob/main/bugs/BUG-LM-01.md</a:t>
            </a:r>
          </a:p>
          <a:p xmlns:a="http://schemas.openxmlformats.org/drawingml/2006/main">
            <a:r>
              <a:t>https://github.com/rpozniak/sentry-swm2-qa/blob/main/bugs/BUG-RL-01.md</a:t>
            </a:r>
          </a:p>
          <a:p xmlns:a="http://schemas.openxmlformats.org/drawingml/2006/main">
            <a:r>
              <a:t>https://github.com/rpozniak/sentry-swm2-qa/blob/main/bugs/BUG-RL-02.md</a:t>
            </a:r>
          </a:p>
          <a:p xmlns:a="http://schemas.openxmlformats.org/drawingml/2006/main">
            <a:r>
              <a:t>https://github.com/rpozniak/sentry-swm2-qa/blob/main/bugs/BUG-HL-01.md</a:t>
            </a:r>
          </a:p>
          <a:p xmlns:a="http://schemas.openxmlformats.org/drawingml/2006/main">
            <a:r>
              <a:t>https://github.com/rpozniak/sentry-swm2-qa/blob/main/bugs/BUG-AU-01.md</a:t>
            </a:r>
          </a:p>
          <a:p xmlns:a="http://schemas.openxmlformats.org/drawingml/2006/main">
            <a:r>
              <a:t>https://github.com/rpozniak/sentry-swm2-qa/blob/main/bugs/BUG-AL-01.md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https://github.com/rpozniak/sentry-swm2-qa/blob/main/docs/HIL_STAND.md</a:t>
            </a:r>
          </a:p>
          <a:p xmlns:a="http://schemas.openxmlformats.org/drawingml/2006/main">
            <a:r>
              <a:t>https://github.com/rpozniak/sentry-swm2-qa/blob/main/reference/PRD.md</a:t>
            </a:r>
          </a:p>
          <a:p xmlns:a="http://schemas.openxmlformats.org/drawingml/2006/main">
            <a:r>
              <a:t>MG90S є допоміжним макетом приводу клапана. PWM формує агент RP2040; очікування для SENTRY визначені в PRD.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https://github.com/rpozniak/sentry-swm2-qa/blob/main/REPORT.md</a:t>
            </a:r>
          </a:p>
          <a:p xmlns:a="http://schemas.openxmlformats.org/drawingml/2006/main">
            <a:r>
              <a:t>https://github.com/rpozniak/sentry-swm2-qa/blob/main/docs/TRACEABILITY.md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66f5ff5b11464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821bd740b9452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c6d0d8a2bb463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b04115b89643f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e2b69a08354e1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6356f014a24f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434414-7FD2-4B3F-A4B0-8C31566208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36BE9FC-E4D5-48C0-8DC1-AB3D7D83098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C5B6052-41FD-459C-B93D-5E973952F1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6B88F1-5A24-4CBA-B441-97D51252E2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E1AE55F-5E87-44FB-954E-6BA0CEB42A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8FEEDC2-FAEB-4D12-A72A-E6F0F1359C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092633-6D1E-4400-82DC-AB7962BBDA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B372027-34E7-4410-85B5-82E4EF199FD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B45107-C374-4874-AFEA-D6437E739B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C7EC32-CC10-4533-8D4E-8479219D2A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932de2c7a24447" /><Relationship Type="http://schemas.openxmlformats.org/officeDocument/2006/relationships/slideLayout" Target="/ppt/slideLayouts/slideLayout1.xml" Id="Rb23bf70817b14a1d" /><Relationship Type="http://schemas.openxmlformats.org/officeDocument/2006/relationships/slideLayout" Target="/ppt/slideLayouts/slideLayout2.xml" Id="R8c3621e80e7e4386" /><Relationship Type="http://schemas.openxmlformats.org/officeDocument/2006/relationships/slideLayout" Target="/ppt/slideLayouts/slideLayout3.xml" Id="R19d92a84c3c546c5" /><Relationship Type="http://schemas.openxmlformats.org/officeDocument/2006/relationships/slideLayout" Target="/ppt/slideLayouts/slideLayout4.xml" Id="R49f155930c994c11" /><Relationship Type="http://schemas.openxmlformats.org/officeDocument/2006/relationships/slideLayout" Target="/ppt/slideLayouts/slideLayout5.xml" Id="R57f4c1ce4aa64206" /><Relationship Type="http://schemas.openxmlformats.org/officeDocument/2006/relationships/slideLayout" Target="/ppt/slideLayouts/slideLayout6.xml" Id="R96a7d3756adb40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3bf70817b14a1d"/>
    <p:sldLayoutId xmlns:r="http://schemas.openxmlformats.org/officeDocument/2006/relationships" id="2147483650" r:id="R8c3621e80e7e4386"/>
    <p:sldLayoutId xmlns:r="http://schemas.openxmlformats.org/officeDocument/2006/relationships" id="2147483651" r:id="R19d92a84c3c546c5"/>
    <p:sldLayoutId xmlns:r="http://schemas.openxmlformats.org/officeDocument/2006/relationships" id="2147483652" r:id="R49f155930c994c11"/>
    <p:sldLayoutId xmlns:r="http://schemas.openxmlformats.org/officeDocument/2006/relationships" id="2147483653" r:id="R57f4c1ce4aa64206"/>
    <p:sldLayoutId xmlns:r="http://schemas.openxmlformats.org/officeDocument/2006/relationships" id="2147483654" r:id="R96a7d3756adb40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724cc1a5644835" /><Relationship Type="http://schemas.openxmlformats.org/officeDocument/2006/relationships/notesSlide" Target="/ppt/notesSlides/notesSlide1.xml" Id="R4822ec27d40b4a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8361a46194488f" /><Relationship Type="http://schemas.openxmlformats.org/officeDocument/2006/relationships/image" Target="/ppt/media/image.jpeg" Id="Rd639d99c9e3841fc" /><Relationship Type="http://schemas.openxmlformats.org/officeDocument/2006/relationships/notesSlide" Target="/ppt/notesSlides/notesSlide2.xml" Id="Ra45296580da849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22ea62f6f041e3" /><Relationship Type="http://schemas.openxmlformats.org/officeDocument/2006/relationships/notesSlide" Target="/ppt/notesSlides/notesSlide3.xml" Id="Refa716a7075742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ffa54cd4e54487" /><Relationship Type="http://schemas.openxmlformats.org/officeDocument/2006/relationships/notesSlide" Target="/ppt/notesSlides/notesSlide4.xml" Id="R900150e95fc341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537cf2773d4dda" /><Relationship Type="http://schemas.openxmlformats.org/officeDocument/2006/relationships/notesSlide" Target="/ppt/notesSlides/notesSlide5.xml" Id="R81c73a1268ca48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f0ead8785147eb" /><Relationship Type="http://schemas.openxmlformats.org/officeDocument/2006/relationships/notesSlide" Target="/ppt/notesSlides/notesSlide6.xml" Id="R34a2542366d04c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cc86d4f8464bf8" /><Relationship Type="http://schemas.openxmlformats.org/officeDocument/2006/relationships/notesSlide" Target="/ppt/notesSlides/notesSlide7.xml" Id="R35ce7488bdf24f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8dce590ec54e87" /><Relationship Type="http://schemas.openxmlformats.org/officeDocument/2006/relationships/image" Target="/ppt/media/image.png" Id="R473c1dfaea1e42dc" /><Relationship Type="http://schemas.openxmlformats.org/officeDocument/2006/relationships/notesSlide" Target="/ppt/notesSlides/notesSlide8.xml" Id="Rab9d555ee03b4f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d97ef5c6f647b5" /><Relationship Type="http://schemas.openxmlformats.org/officeDocument/2006/relationships/notesSlide" Target="/ppt/notesSlides/notesSlide9.xml" Id="R648489a751dd4b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6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FDD63-2576-4BC2-B847-1F09C866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SENTRY SWM-2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77AAD-E7E6-489A-AD84-F64EE794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6DE0D3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6DE0D3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6DE0D3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6DE0D3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6DE0D3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6DE0D3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6DE0D3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6DE0D3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6DE0D3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6DE0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6DE0D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6DE0D3"/>
                </a:solidFill>
                <a:latin typeface="Arial"/>
                <a:ea typeface="Arial"/>
                <a:cs typeface="Arial"/>
              </a:rPr>
              <a:t>2.1.0 stable → 2.3.0 beta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F16DE-5D2D-4F48-A076-C3E1FD2C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C6D4E1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C6D4E1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C6D4E1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C6D4E1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C6D4E1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C6D4E1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C6D4E1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C6D4E1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C6D4E1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C6D4E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6D4E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6D4E1"/>
                </a:solidFill>
                <a:latin typeface="Arial"/>
                <a:ea typeface="Arial"/>
                <a:cs typeface="Arial"/>
              </a:rPr>
              <a:t>Embedded QA Engineer · Курсовий проєкт</a:t>
            </a:r>
          </a:p>
        </p:txBody>
      </p:sp>
    </p:spTree>
    <p:extLst>
      <p:ext uri="{BB962C8B-B14F-4D97-AF65-F5344CB8AC3E}">
        <p14:creationId xmlns:p14="http://schemas.microsoft.com/office/powerpoint/2010/main" val="14593720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F867E-6F43-4F5B-A2A0-B8E79F8C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D45"/>
                </a:solidFill>
                <a:latin typeface="Arial"/>
                <a:ea typeface="Arial"/>
                <a:cs typeface="Arial"/>
              </a:rPr>
              <a:t>Об’єкт тестування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92043-31C5-4579-90CC-0E593B30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ESP32-S3 N16R8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82D59-1B7D-43CB-8860-4D2ECF0D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7048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2D45"/>
                </a:solidFill>
                <a:latin typeface="Arial"/>
                <a:ea typeface="Arial"/>
                <a:cs typeface="Arial"/>
              </a:rPr>
              <a:t>Прошивка SENTRY SWM-2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3CC64-5115-4246-A1DF-9BB8C582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704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D45"/>
                </a:solidFill>
                <a:latin typeface="Arial"/>
                <a:ea typeface="Arial"/>
                <a:cs typeface="Arial"/>
              </a:rPr>
              <a:t>Навчальна модель гідроакустичної вахти:</a:t>
            </a:r>
          </a:p>
          <a:p xmlns:a="http://schemas.openxmlformats.org/drawingml/2006/main">
            <a:pPr>
              <a:defRPr sz="21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D45"/>
                </a:solidFill>
                <a:latin typeface="Arial"/>
                <a:ea typeface="Arial"/>
                <a:cs typeface="Arial"/>
              </a:rPr>
              <a:t>сонар, реле, RGB-лампа, телеметрія</a:t>
            </a:r>
          </a:p>
          <a:p xmlns:a="http://schemas.openxmlformats.org/drawingml/2006/main">
            <a:pPr>
              <a:defRPr sz="21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D45"/>
                </a:solidFill>
                <a:latin typeface="Arial"/>
                <a:ea typeface="Arial"/>
                <a:cs typeface="Arial"/>
              </a:rPr>
              <a:t>та сповіщення.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CF2D0-8D88-4F28-958B-2E841415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7048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2D45"/>
                </a:solidFill>
                <a:latin typeface="Arial"/>
                <a:ea typeface="Arial"/>
                <a:cs typeface="Arial"/>
              </a:rPr>
              <a:t>2.1.0 stable та 2.3.0 beta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692D35-5D9B-4870-8B2D-8C993DBB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7048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66A80"/>
                </a:solidFill>
                <a:latin typeface="Arial"/>
                <a:ea typeface="Arial"/>
                <a:cs typeface="Arial"/>
              </a:rPr>
              <a:t>Очікувана поведінка — PRD.md</a:t>
            </a:r>
          </a:p>
          <a:p xmlns:a="http://schemas.openxmlformats.org/drawingml/2006/main">
            <a:pPr>
              <a:defRPr sz="2025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66A80"/>
                </a:solidFill>
                <a:latin typeface="Arial"/>
                <a:ea typeface="Arial"/>
                <a:cs typeface="Arial"/>
              </a:rPr>
              <a:t>Керування через UART 115200 8N1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BC005-BBFC-4845-8E96-946E809BE8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39d99c9e3841fc"/>
          <a:stretch xmlns:a="http://schemas.openxmlformats.org/drawingml/2006/main"/>
        </p:blipFill>
        <p:spPr>
          <a:xfrm xmlns:a="http://schemas.openxmlformats.org/drawingml/2006/main">
            <a:off x="8143875" y="1558925"/>
            <a:ext cx="3333750" cy="4445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0DAD6-9826-4B1C-B16A-668285B8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A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744510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67E86-1CD3-4F19-9F02-CA7366F0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D45"/>
                </a:solidFill>
                <a:latin typeface="Arial"/>
                <a:ea typeface="Arial"/>
                <a:cs typeface="Arial"/>
              </a:rPr>
              <a:t>Функції під тестуванням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D9320-24F0-4F85-985B-CBBEF5EF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A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67A9D1-554F-4EAF-90A5-B17686434504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467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6381750"/>
                <a:gridCol w="2305050"/>
              </a:tblGrid>
              <a:tr h="5778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Фіча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T w="9525">
                      <a:solidFill>
                        <a:srgbClr val="D9E1EA"/>
                      </a:solidFill>
                      <a:prstDash val="solid"/>
                    </a:lnT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18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Основні перевірки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T w="9525">
                      <a:solidFill>
                        <a:srgbClr val="D9E1EA"/>
                      </a:solidFill>
                      <a:prstDash val="solid"/>
                    </a:lnT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18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Auto-кейси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T w="9525">
                      <a:solidFill>
                        <a:srgbClr val="D9E1EA"/>
                      </a:solidFill>
                      <a:prstDash val="solid"/>
                    </a:lnT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182D45"/>
                    </a:solidFill>
                  </a:tcPr>
                </a:tc>
              </a:tr>
              <a:tr h="5778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Лампа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RGB, яскравість, таймер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78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Реле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Стан, pulse, schedule, cycles, NVS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5778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Телеметрія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Поля, межі інтервалу, off, NVS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78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Акаунт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Вхід, lockout, пароль, logout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5778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Alert center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E099 у stable; test, ack, clear у beta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42C84-87A2-4321-9490-5CA67C69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32 автоматизовані кейси</a:t>
            </a:r>
          </a:p>
        </p:txBody>
      </p:sp>
    </p:spTree>
    <p:extLst>
      <p:ext uri="{BB962C8B-B14F-4D97-AF65-F5344CB8AC3E}">
        <p14:creationId xmlns:p14="http://schemas.microsoft.com/office/powerpoint/2010/main" val="9501187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D1808-9453-4428-B979-EB657274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D45"/>
                </a:solidFill>
                <a:latin typeface="Arial"/>
                <a:ea typeface="Arial"/>
                <a:cs typeface="Arial"/>
              </a:rPr>
              <a:t>Фреймворк і реальний UART-стенд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4F18D-364B-4888-A659-2C30D36D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A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483DC-E399-4EB1-B858-C741B9C2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pytest → фікстури → UART-драйвер → ESP32-S3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F991F-C478-41CF-831B-8FA2F6CE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D45"/>
                </a:solidFill>
                <a:latin typeface="Arial"/>
                <a:ea typeface="Arial"/>
                <a:cs typeface="Arial"/>
              </a:rPr>
              <a:t>Підключення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FCBAA-5491-400E-A203-1BAD4B23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90775"/>
            <a:ext cx="7715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D45"/>
                </a:solidFill>
                <a:latin typeface="Arial"/>
                <a:ea typeface="Arial"/>
                <a:cs typeface="Arial"/>
              </a:rPr>
              <a:t>Mac, USB/UART 115200 8N1</a:t>
            </a:r>
          </a:p>
          <a:p xmlns:a="http://schemas.openxmlformats.org/drawingml/2006/main">
            <a:pPr>
              <a:defRPr sz="21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D45"/>
                </a:solidFill>
                <a:latin typeface="Arial"/>
                <a:ea typeface="Arial"/>
                <a:cs typeface="Arial"/>
              </a:rPr>
              <a:t>Автопошук порта за VID 1A86 або --port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9F76F-04FF-474C-A696-ABDDDC60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D45"/>
                </a:solidFill>
                <a:latin typeface="Arial"/>
                <a:ea typeface="Arial"/>
                <a:cs typeface="Arial"/>
              </a:rPr>
              <a:t>Фікстури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1C11A2-D96A-4A59-ABB8-B6B44292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33775"/>
            <a:ext cx="7715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D45"/>
                </a:solidFill>
                <a:latin typeface="Arial"/>
                <a:ea typeface="Arial"/>
                <a:cs typeface="Arial"/>
              </a:rPr>
              <a:t>dut: одна сесія UART, версія й авторизація</a:t>
            </a:r>
          </a:p>
          <a:p xmlns:a="http://schemas.openxmlformats.org/drawingml/2006/main">
            <a:pPr>
              <a:defRPr sz="2025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D45"/>
                </a:solidFill>
                <a:latin typeface="Arial"/>
                <a:ea typeface="Arial"/>
                <a:cs typeface="Arial"/>
              </a:rPr>
              <a:t>device: передумови, лог і очищення кожного кейсу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E41E2-818E-4591-B3CD-A15F6978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D45"/>
                </a:solidFill>
                <a:latin typeface="Arial"/>
                <a:ea typeface="Arial"/>
                <a:cs typeface="Arial"/>
              </a:rPr>
              <a:t>Докази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C12269-0C8C-4EF3-85AB-39215FA5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00600"/>
            <a:ext cx="771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D45"/>
                </a:solidFill>
                <a:latin typeface="Arial"/>
                <a:ea typeface="Arial"/>
                <a:cs typeface="Arial"/>
              </a:rPr>
              <a:t>Окремі TX/RX-логи з часовими мітками</a:t>
            </a:r>
          </a:p>
          <a:p xmlns:a="http://schemas.openxmlformats.org/drawingml/2006/main">
            <a:pPr>
              <a:defRPr sz="2025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D45"/>
                </a:solidFill>
                <a:latin typeface="Arial"/>
                <a:ea typeface="Arial"/>
                <a:cs typeface="Arial"/>
              </a:rPr>
              <a:t>Паролі приховуються; JSON, Markdown і JUnit-звіти</a:t>
            </a:r>
          </a:p>
        </p:txBody>
      </p:sp>
    </p:spTree>
    <p:extLst>
      <p:ext uri="{BB962C8B-B14F-4D97-AF65-F5344CB8AC3E}">
        <p14:creationId xmlns:p14="http://schemas.microsoft.com/office/powerpoint/2010/main" val="12478910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7C233-9C88-4798-8D8A-D7AF4631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D45"/>
                </a:solidFill>
                <a:latin typeface="Arial"/>
                <a:ea typeface="Arial"/>
                <a:cs typeface="Arial"/>
              </a:rPr>
              <a:t>Тест-дизайн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A3779-A124-4C33-BABA-1D0C6153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A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5CEBC-C431-41D3-BCD8-965EEE49B6CE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2647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771900"/>
                <a:gridCol w="3771900"/>
              </a:tblGrid>
              <a:tr h="6619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Перевірка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T w="9525">
                      <a:solidFill>
                        <a:srgbClr val="D9E1EA"/>
                      </a:solidFill>
                      <a:prstDash val="solid"/>
                    </a:lnT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18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Допустимі значення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T w="9525">
                      <a:solidFill>
                        <a:srgbClr val="D9E1EA"/>
                      </a:solidFill>
                      <a:prstDash val="solid"/>
                    </a:lnT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18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За межами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T w="9525">
                      <a:solidFill>
                        <a:srgbClr val="D9E1EA"/>
                      </a:solidFill>
                      <a:prstDash val="solid"/>
                    </a:lnT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182D45"/>
                    </a:solidFill>
                  </a:tcPr>
                </a:tc>
              </a:tr>
              <a:tr h="6619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relay pulse, мс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100, 1000, 10000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−1, 0, 99, 10001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19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health interval, 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10, 300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9, 301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6619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Довжина пароля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6, 32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5, 33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6E1EC-48C0-4E2C-95B5-C5E838E4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2D45"/>
                </a:solidFill>
                <a:latin typeface="Arial"/>
                <a:ea typeface="Arial"/>
                <a:cs typeface="Arial"/>
              </a:rPr>
              <a:t>Переходи станів: on / off / toggle, lockout та clear alerts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E2A2F-A658-491A-81D8-EF4058A7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66A80"/>
                </a:solidFill>
                <a:latin typeface="Arial"/>
                <a:ea typeface="Arial"/>
                <a:cs typeface="Arial"/>
              </a:rPr>
              <a:t>Збереження після reboot: cycles, інтервал health, пароль</a:t>
            </a:r>
          </a:p>
          <a:p xmlns:a="http://schemas.openxmlformats.org/drawingml/2006/main">
            <a:pPr>
              <a:defRPr sz="19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66A80"/>
                </a:solidFill>
                <a:latin typeface="Arial"/>
                <a:ea typeface="Arial"/>
                <a:cs typeface="Arial"/>
              </a:rPr>
              <a:t>Кожен параметр має власний результат і повний UART-лог.</a:t>
            </a:r>
          </a:p>
        </p:txBody>
      </p:sp>
    </p:spTree>
    <p:extLst>
      <p:ext uri="{BB962C8B-B14F-4D97-AF65-F5344CB8AC3E}">
        <p14:creationId xmlns:p14="http://schemas.microsoft.com/office/powerpoint/2010/main" val="11482131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76F4E-F38A-4109-946F-52E99C73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D45"/>
                </a:solidFill>
                <a:latin typeface="Arial"/>
                <a:ea typeface="Arial"/>
                <a:cs typeface="Arial"/>
              </a:rPr>
              <a:t>Результати двох версій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992F1-5B57-4B57-93D8-0F6F7CA2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A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CD297-A369-45D4-B2DD-1A7BC2834A22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2171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1790700"/>
                <a:gridCol w="1790700"/>
                <a:gridCol w="1790700"/>
                <a:gridCol w="1790700"/>
              </a:tblGrid>
              <a:tr h="7239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Версія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T w="9525">
                      <a:solidFill>
                        <a:srgbClr val="D9E1EA"/>
                      </a:solidFill>
                      <a:prstDash val="solid"/>
                    </a:lnT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18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T w="9525">
                      <a:solidFill>
                        <a:srgbClr val="D9E1EA"/>
                      </a:solidFill>
                      <a:prstDash val="solid"/>
                    </a:lnT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18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Fail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T w="9525">
                      <a:solidFill>
                        <a:srgbClr val="D9E1EA"/>
                      </a:solidFill>
                      <a:prstDash val="solid"/>
                    </a:lnT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18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N/A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T w="9525">
                      <a:solidFill>
                        <a:srgbClr val="D9E1EA"/>
                      </a:solidFill>
                      <a:prstDash val="solid"/>
                    </a:lnT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18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T w="9525">
                      <a:solidFill>
                        <a:srgbClr val="D9E1EA"/>
                      </a:solidFill>
                      <a:prstDash val="solid"/>
                    </a:lnT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182D45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2.1.0 stable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57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2.3.0 beta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63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D17CD-8EF4-4B08-B80D-CF4226F3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70 автоматизованих варіантів на версію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5E2A8-FD7A-4471-9804-94B210CB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10668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66A80"/>
                </a:solidFill>
                <a:latin typeface="Arial"/>
                <a:ea typeface="Arial"/>
                <a:cs typeface="Arial"/>
              </a:rPr>
              <a:t>N/A — сценарії, які не застосовуються до цієї версії.</a:t>
            </a:r>
          </a:p>
          <a:p xmlns:a="http://schemas.openxmlformats.org/drawingml/2006/main">
            <a:pPr>
              <a:defRPr sz="19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66A80"/>
                </a:solidFill>
                <a:latin typeface="Arial"/>
                <a:ea typeface="Arial"/>
                <a:cs typeface="Arial"/>
              </a:rPr>
              <a:t>Повторні відтворення не збільшують підсумок основних прогонів.</a:t>
            </a:r>
          </a:p>
        </p:txBody>
      </p:sp>
    </p:spTree>
    <p:extLst>
      <p:ext uri="{BB962C8B-B14F-4D97-AF65-F5344CB8AC3E}">
        <p14:creationId xmlns:p14="http://schemas.microsoft.com/office/powerpoint/2010/main" val="20960058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D2CEA-CA20-4678-983B-5A9FD8AA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D45"/>
                </a:solidFill>
                <a:latin typeface="Arial"/>
                <a:ea typeface="Arial"/>
                <a:cs typeface="Arial"/>
              </a:rPr>
              <a:t>Шість знайдених дефектів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D8289-97B4-483E-ABB3-1D650861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A8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77EE0-77D9-47D7-9AFC-955CCEBEEB08}"/>
              </a:ext>
            </a:extLst>
          </p:cNvPr>
          <p:cNvGraphicFramePr/>
          <p:nvPr/>
        </p:nvGraphicFramePr>
        <p:xfrm>
          <a:off xmlns:a="http://schemas.openxmlformats.org/drawingml/2006/main" x="609600" y="1533525"/>
          <a:ext xmlns:a="http://schemas.openxmlformats.org/drawingml/2006/main" cx="109728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6286500"/>
                <a:gridCol w="1628775"/>
                <a:gridCol w="1628775"/>
              </a:tblGrid>
              <a:tr h="56333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T w="9525">
                      <a:solidFill>
                        <a:srgbClr val="D9E1EA"/>
                      </a:solidFill>
                      <a:prstDash val="solid"/>
                    </a:lnT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18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Проблема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T w="9525">
                      <a:solidFill>
                        <a:srgbClr val="D9E1EA"/>
                      </a:solidFill>
                      <a:prstDash val="solid"/>
                    </a:lnT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18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2.1.0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T w="9525">
                      <a:solidFill>
                        <a:srgbClr val="D9E1EA"/>
                      </a:solidFill>
                      <a:prstDash val="solid"/>
                    </a:lnT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18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2.3.0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T w="9525">
                      <a:solidFill>
                        <a:srgbClr val="D9E1EA"/>
                      </a:solidFill>
                      <a:prstDash val="solid"/>
                    </a:lnT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182D45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LM-01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lamp timer: ms у повідомленні замість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Не відтв.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RL-01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pulse 99 виконується замість E603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RL-02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Одне перемикання додає 2 до cycles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Не відтв.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HL-01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Допустимий health interval 300 відхиляється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Не відтв.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AU-01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Новий пароль не зберігається після reboot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Не відтв.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AL-01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Наявний alert ID відхиляється з E851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N/A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D45"/>
                          </a:solidFill>
                          <a:latin typeface="Arial"/>
                          <a:ea typeface="Arial"/>
                          <a:cs typeface="Arial"/>
                        </a:rPr>
                        <a:t>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3AE58-D6D2-48EC-A72B-F3759785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66A80"/>
                </a:solidFill>
                <a:latin typeface="Arial"/>
                <a:ea typeface="Arial"/>
                <a:cs typeface="Arial"/>
              </a:rPr>
              <a:t>Повні ID мають префікс BUG-. У beta лишаються RL-01 та AL-01.</a:t>
            </a:r>
          </a:p>
        </p:txBody>
      </p:sp>
    </p:spTree>
    <p:extLst>
      <p:ext uri="{BB962C8B-B14F-4D97-AF65-F5344CB8AC3E}">
        <p14:creationId xmlns:p14="http://schemas.microsoft.com/office/powerpoint/2010/main" val="3532539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48332-4F00-4DEA-99FE-47601CD6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D45"/>
                </a:solidFill>
                <a:latin typeface="Arial"/>
                <a:ea typeface="Arial"/>
                <a:cs typeface="Arial"/>
              </a:rPr>
              <a:t>Теоретичний HIL-стенд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E2F06-CDF0-4CB2-95CC-2457632C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A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24FDE0-20A5-4A86-9B64-AA2BBF1340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c1dfaea1e42dc"/>
          <a:stretch xmlns:a="http://schemas.openxmlformats.org/drawingml/2006/main"/>
        </p:blipFill>
        <p:spPr>
          <a:xfrm xmlns:a="http://schemas.openxmlformats.org/drawingml/2006/main">
            <a:off x="381000" y="1201189"/>
            <a:ext cx="8039100" cy="540812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A6FA4-73FF-4270-A6FC-0C634C74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5735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2D45"/>
                </a:solidFill>
                <a:latin typeface="Arial"/>
                <a:ea typeface="Arial"/>
                <a:cs typeface="Arial"/>
              </a:rPr>
              <a:t>Raspberry Pi + pytest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2F1B1-D5ED-4834-8D86-6F0688E4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670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D45"/>
                </a:solidFill>
                <a:latin typeface="Arial"/>
                <a:ea typeface="Arial"/>
                <a:cs typeface="Arial"/>
              </a:rPr>
              <a:t>RP2040: кнопки</a:t>
            </a:r>
          </a:p>
          <a:p xmlns:a="http://schemas.openxmlformats.org/drawingml/2006/main">
            <a:pPr>
              <a:defRPr sz="18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D45"/>
                </a:solidFill>
                <a:latin typeface="Arial"/>
                <a:ea typeface="Arial"/>
                <a:cs typeface="Arial"/>
              </a:rPr>
              <a:t>та ECHO сонара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F85F2-6EDE-4965-B382-B270AECE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6715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D45"/>
                </a:solidFill>
                <a:latin typeface="Arial"/>
                <a:ea typeface="Arial"/>
                <a:cs typeface="Arial"/>
              </a:rPr>
              <a:t>Реле → макет клапана</a:t>
            </a:r>
          </a:p>
          <a:p xmlns:a="http://schemas.openxmlformats.org/drawingml/2006/main">
            <a:pPr>
              <a:defRPr sz="18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D45"/>
                </a:solidFill>
                <a:latin typeface="Arial"/>
                <a:ea typeface="Arial"/>
                <a:cs typeface="Arial"/>
              </a:rPr>
              <a:t>MG90S + кінцевики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84869C-C665-4725-9F6C-E4E2D2FE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1435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D45"/>
                </a:solidFill>
                <a:latin typeface="Arial"/>
                <a:ea typeface="Arial"/>
                <a:cs typeface="Arial"/>
              </a:rPr>
              <a:t>CI зберігає докази;</a:t>
            </a:r>
          </a:p>
          <a:p xmlns:a="http://schemas.openxmlformats.org/drawingml/2006/main">
            <a:pPr>
              <a:defRPr sz="1800" b="0">
                <a:solidFill>
                  <a:srgbClr val="18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D45"/>
                </a:solidFill>
                <a:latin typeface="Arial"/>
                <a:ea typeface="Arial"/>
                <a:cs typeface="Arial"/>
              </a:rPr>
              <a:t>Mosquitto передає події</a:t>
            </a:r>
          </a:p>
        </p:txBody>
      </p:sp>
    </p:spTree>
    <p:extLst>
      <p:ext uri="{BB962C8B-B14F-4D97-AF65-F5344CB8AC3E}">
        <p14:creationId xmlns:p14="http://schemas.microsoft.com/office/powerpoint/2010/main" val="19286770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21F03-8643-4692-89AE-A5E3A1CE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D45"/>
                </a:solidFill>
                <a:latin typeface="Arial"/>
                <a:ea typeface="Arial"/>
                <a:cs typeface="Arial"/>
              </a:rPr>
              <a:t>Висновок щодо 2.3.0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1CCDF-DAB4-409F-9ED5-13AF7C40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A8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99937-A8B5-47EA-9E71-F2F3A9F6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B42336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B42336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B42336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B42336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B42336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B42336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B42336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B42336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B42336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B423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B42336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B42336"/>
                </a:solidFill>
                <a:latin typeface="Arial"/>
                <a:ea typeface="Arial"/>
                <a:cs typeface="Arial"/>
              </a:rPr>
              <a:t>NO-GO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F1C28-B87A-4CB8-9AD2-056E3666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D45"/>
                </a:solidFill>
                <a:latin typeface="Arial"/>
                <a:ea typeface="Arial"/>
                <a:cs typeface="Arial"/>
              </a:rPr>
              <a:t>Недопустимий pulse 99 виконується</a:t>
            </a:r>
          </a:p>
          <a:p xmlns:a="http://schemas.openxmlformats.org/drawingml/2006/main">
            <a:pPr>
              <a:defRPr sz="2550" b="1">
                <a:solidFill>
                  <a:srgbClr val="182D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D45"/>
                </a:solidFill>
                <a:latin typeface="Arial"/>
                <a:ea typeface="Arial"/>
                <a:cs typeface="Arial"/>
              </a:rPr>
              <a:t>Підтвердження наявного alert за ID не працює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41F51-0499-4005-BA9B-08C70FE1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87F8C"/>
                </a:solidFill>
                <a:latin typeface="Arial"/>
                <a:ea typeface="Arial"/>
                <a:cs typeface="Arial"/>
              </a:rPr>
              <a:t>github.com/rpozniak/sentry-swm2-qa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43CD1-3B85-4DFB-852F-F0657BCF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Чотири дефекти 2.1.0 у beta не відтворились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5477C-DC3C-4C43-8502-8D56F6F2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66A80"/>
                </a:solidFill>
                <a:latin typeface="Arial"/>
                <a:ea typeface="Arial"/>
                <a:cs typeface="Arial"/>
              </a:rPr>
              <a:t>Рекомендація: виправити pulse та ack за ID,</a:t>
            </a:r>
          </a:p>
          <a:p xmlns:a="http://schemas.openxmlformats.org/drawingml/2006/main">
            <a:pPr>
              <a:defRPr sz="2100" b="0">
                <a:solidFill>
                  <a:srgbClr val="566A8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66A80"/>
                </a:solidFill>
                <a:latin typeface="Arial"/>
                <a:ea typeface="Arial"/>
                <a:cs typeface="Arial"/>
              </a:rPr>
              <a:t>після цього повторити відповідні перевірки й регресію.</a:t>
            </a:r>
          </a:p>
        </p:txBody>
      </p:sp>
    </p:spTree>
    <p:extLst>
      <p:ext uri="{BB962C8B-B14F-4D97-AF65-F5344CB8AC3E}">
        <p14:creationId xmlns:p14="http://schemas.microsoft.com/office/powerpoint/2010/main" val="19652010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2026-10-24T20:11:16.9910000Z</dcterms:created>
  <dcterms:modified xsi:type="dcterms:W3CDTF">2026-10-24T20:11:16.9910000Z</dcterms:modified>
</coreProperties>
</file>