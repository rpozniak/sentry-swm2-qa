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402cb1bad1b45a6" /><Relationship Type="http://schemas.openxmlformats.org/officeDocument/2006/relationships/extended-properties" Target="/docProps/app.xml" Id="R76c8278904be4302" /><Relationship Type="http://schemas.openxmlformats.org/officeDocument/2006/relationships/officeDocument" Target="/ppt/presentation.xml" Id="R629c03aa280249f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f78361e16be495e"/>
  </p:sldMasterIdLst>
  <p:notesMasterIdLst>
    <p:notesMasterId xmlns:r="http://schemas.openxmlformats.org/officeDocument/2006/relationships" r:id="R032fea57ab7c4626"/>
  </p:notesMasterIdLst>
  <p:sldIdLst>
    <p:sldId xmlns:r="http://schemas.openxmlformats.org/officeDocument/2006/relationships" id="256" r:id="R8b1e3d91ddd24315"/>
    <p:sldId xmlns:r="http://schemas.openxmlformats.org/officeDocument/2006/relationships" id="257" r:id="R169136cf44284e12"/>
    <p:sldId xmlns:r="http://schemas.openxmlformats.org/officeDocument/2006/relationships" id="258" r:id="R0c393d83537a49c8"/>
    <p:sldId xmlns:r="http://schemas.openxmlformats.org/officeDocument/2006/relationships" id="259" r:id="R032a7b5017ab4ee3"/>
    <p:sldId xmlns:r="http://schemas.openxmlformats.org/officeDocument/2006/relationships" id="260" r:id="R47caadf81727403a"/>
    <p:sldId xmlns:r="http://schemas.openxmlformats.org/officeDocument/2006/relationships" id="261" r:id="R94bbdae9bfa947d0"/>
    <p:sldId xmlns:r="http://schemas.openxmlformats.org/officeDocument/2006/relationships" id="262" r:id="Rdf628b55ec8547f5"/>
    <p:sldId xmlns:r="http://schemas.openxmlformats.org/officeDocument/2006/relationships" id="263" r:id="R5c23f66bbf5846dc"/>
    <p:sldId xmlns:r="http://schemas.openxmlformats.org/officeDocument/2006/relationships" id="264" r:id="R4668269245474def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d31df7147124431" /><Relationship Type="http://schemas.openxmlformats.org/officeDocument/2006/relationships/slideMaster" Target="/ppt/slideMasters/slideMaster1.xml" Id="R4f78361e16be495e" /><Relationship Type="http://schemas.openxmlformats.org/officeDocument/2006/relationships/notesMaster" Target="/ppt/notesMasters/notesMaster1.xml" Id="R032fea57ab7c4626" /><Relationship Type="http://schemas.openxmlformats.org/officeDocument/2006/relationships/presProps" Target="/ppt/presProps.xml" Id="R0d76906081664e78" /><Relationship Type="http://schemas.openxmlformats.org/officeDocument/2006/relationships/tableStyles" Target="/ppt/tableStyles.xml" Id="R92387ec6e45942e7" /><Relationship Type="http://schemas.openxmlformats.org/officeDocument/2006/relationships/slide" Target="/ppt/slides/slide1.xml" Id="R8b1e3d91ddd24315" /><Relationship Type="http://schemas.openxmlformats.org/officeDocument/2006/relationships/slide" Target="/ppt/slides/slide2.xml" Id="R169136cf44284e12" /><Relationship Type="http://schemas.openxmlformats.org/officeDocument/2006/relationships/slide" Target="/ppt/slides/slide3.xml" Id="R0c393d83537a49c8" /><Relationship Type="http://schemas.openxmlformats.org/officeDocument/2006/relationships/slide" Target="/ppt/slides/slide4.xml" Id="R032a7b5017ab4ee3" /><Relationship Type="http://schemas.openxmlformats.org/officeDocument/2006/relationships/slide" Target="/ppt/slides/slide5.xml" Id="R47caadf81727403a" /><Relationship Type="http://schemas.openxmlformats.org/officeDocument/2006/relationships/slide" Target="/ppt/slides/slide6.xml" Id="R94bbdae9bfa947d0" /><Relationship Type="http://schemas.openxmlformats.org/officeDocument/2006/relationships/slide" Target="/ppt/slides/slide7.xml" Id="Rdf628b55ec8547f5" /><Relationship Type="http://schemas.openxmlformats.org/officeDocument/2006/relationships/slide" Target="/ppt/slides/slide8.xml" Id="R5c23f66bbf5846dc" /><Relationship Type="http://schemas.openxmlformats.org/officeDocument/2006/relationships/slide" Target="/ppt/slides/slide9.xml" Id="R4668269245474de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b9091cd993d420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2334a83c048413d" /><Relationship Type="http://schemas.openxmlformats.org/officeDocument/2006/relationships/notesMaster" Target="/ppt/notesMasters/notesMaster1.xml" Id="R292a00272774402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1b620bcfeb74253" /><Relationship Type="http://schemas.openxmlformats.org/officeDocument/2006/relationships/notesMaster" Target="/ppt/notesMasters/notesMaster1.xml" Id="R24550ec5b1b9485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ad9a997ccf14d4a" /><Relationship Type="http://schemas.openxmlformats.org/officeDocument/2006/relationships/notesMaster" Target="/ppt/notesMasters/notesMaster1.xml" Id="R3c30e0af934541a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4785f0a007c4c0d" /><Relationship Type="http://schemas.openxmlformats.org/officeDocument/2006/relationships/notesMaster" Target="/ppt/notesMasters/notesMaster1.xml" Id="R12a6800aecc54f0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9f6e9efa866403b" /><Relationship Type="http://schemas.openxmlformats.org/officeDocument/2006/relationships/notesMaster" Target="/ppt/notesMasters/notesMaster1.xml" Id="Ra61efb6eb56b440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7594ab81fcc4862" /><Relationship Type="http://schemas.openxmlformats.org/officeDocument/2006/relationships/notesMaster" Target="/ppt/notesMasters/notesMaster1.xml" Id="R9b90834f3f70498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38e291586d64822" /><Relationship Type="http://schemas.openxmlformats.org/officeDocument/2006/relationships/notesMaster" Target="/ppt/notesMasters/notesMaster1.xml" Id="R6c7fe3fc1efb467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938786773f74e17" /><Relationship Type="http://schemas.openxmlformats.org/officeDocument/2006/relationships/notesMaster" Target="/ppt/notesMasters/notesMaster1.xml" Id="Rf69750992140451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45df9a499884e38" /><Relationship Type="http://schemas.openxmlformats.org/officeDocument/2006/relationships/notesMaster" Target="/ppt/notesMasters/notesMaster1.xml" Id="R2f65f6b1c66242c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https://github.com/rpozniak/sentry-swm2-qa/blob/main/REPORT.md</a:t>
            </a:r>
          </a:p>
          <a:p xmlns:a="http://schemas.openxmlformats.org/drawingml/2006/main">
            <a:r>
              <a:t>https://github.com/rpozniak/sentry-swm2-qa/blob/main/reference/COURSEWORK.pdf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https://github.com/rpozniak/sentry-swm2-qa/blob/main/reference/PRD.md</a:t>
            </a:r>
          </a:p>
          <a:p xmlns:a="http://schemas.openxmlformats.org/drawingml/2006/main">
            <a:r>
              <a:t>Фото ESP32-S3 надане користувачем.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https://github.com/rpozniak/sentry-swm2-qa/blob/main/docs/TEST_PLAN.md</a:t>
            </a:r>
          </a:p>
          <a:p xmlns:a="http://schemas.openxmlformats.org/drawingml/2006/main">
            <a:r>
              <a:t>https://github.com/rpozniak/sentry-swm2-qa/blob/main/docs/TEST_CASES.md</a:t>
            </a:r>
          </a:p>
          <a:p xmlns:a="http://schemas.openxmlformats.org/drawingml/2006/main">
            <a:r>
              <a:t>https://github.com/rpozniak/sentry-swm2-qa/blob/main/reference/COURSEWORK_SCOPE.png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https://github.com/rpozniak/sentry-swm2-qa/blob/main/tests/README.md</a:t>
            </a:r>
          </a:p>
          <a:p xmlns:a="http://schemas.openxmlformats.org/drawingml/2006/main">
            <a:r>
              <a:t>https://github.com/rpozniak/sentry-swm2-qa/blob/main/conftest.py</a:t>
            </a:r>
          </a:p>
          <a:p xmlns:a="http://schemas.openxmlformats.org/drawingml/2006/main">
            <a:r>
              <a:t>https://github.com/rpozniak/sentry-swm2-qa/blob/main/framework/device_driver.py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https://github.com/rpozniak/sentry-swm2-qa/blob/main/docs/TEST_CASES.md</a:t>
            </a:r>
          </a:p>
          <a:p xmlns:a="http://schemas.openxmlformats.org/drawingml/2006/main">
            <a:r>
              <a:t>https://github.com/rpozniak/sentry-swm2-qa/blob/main/docs/TRACEABILITY.md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https://github.com/rpozniak/sentry-swm2-qa/blob/main/REPORT.md</a:t>
            </a:r>
          </a:p>
          <a:p xmlns:a="http://schemas.openxmlformats.org/drawingml/2006/main">
            <a:r>
              <a:t>https://github.com/rpozniak/sentry-swm2-qa/blob/main/docs/EXECUTION_RESULTS.md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https://github.com/rpozniak/sentry-swm2-qa/blob/main/REPORT.md</a:t>
            </a:r>
          </a:p>
          <a:p xmlns:a="http://schemas.openxmlformats.org/drawingml/2006/main">
            <a:r>
              <a:t>https://github.com/rpozniak/sentry-swm2-qa/blob/main/bugs/BUG-LM-01.md</a:t>
            </a:r>
          </a:p>
          <a:p xmlns:a="http://schemas.openxmlformats.org/drawingml/2006/main">
            <a:r>
              <a:t>https://github.com/rpozniak/sentry-swm2-qa/blob/main/bugs/BUG-RL-01.md</a:t>
            </a:r>
          </a:p>
          <a:p xmlns:a="http://schemas.openxmlformats.org/drawingml/2006/main">
            <a:r>
              <a:t>https://github.com/rpozniak/sentry-swm2-qa/blob/main/bugs/BUG-RL-02.md</a:t>
            </a:r>
          </a:p>
          <a:p xmlns:a="http://schemas.openxmlformats.org/drawingml/2006/main">
            <a:r>
              <a:t>https://github.com/rpozniak/sentry-swm2-qa/blob/main/bugs/BUG-HL-01.md</a:t>
            </a:r>
          </a:p>
          <a:p xmlns:a="http://schemas.openxmlformats.org/drawingml/2006/main">
            <a:r>
              <a:t>https://github.com/rpozniak/sentry-swm2-qa/blob/main/bugs/BUG-AU-01.md</a:t>
            </a:r>
          </a:p>
          <a:p xmlns:a="http://schemas.openxmlformats.org/drawingml/2006/main">
            <a:r>
              <a:t>https://github.com/rpozniak/sentry-swm2-qa/blob/main/bugs/BUG-AL-01.md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https://github.com/rpozniak/sentry-swm2-qa/blob/main/docs/HIL_STAND.md</a:t>
            </a:r>
          </a:p>
          <a:p xmlns:a="http://schemas.openxmlformats.org/drawingml/2006/main">
            <a:r>
              <a:t>https://github.com/rpozniak/sentry-swm2-qa/blob/main/docs/assets/HIL_STAND.png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https://github.com/rpozniak/sentry-swm2-qa/blob/main/REPORT.md</a:t>
            </a:r>
          </a:p>
          <a:p xmlns:a="http://schemas.openxmlformats.org/drawingml/2006/main">
            <a:r>
              <a:t>https://github.com/rpozniak/sentry-swm2-qa/blob/main/docs/TRACEABILITY.md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597a453603842f0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ee02416dd1642fb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799fd16ee884553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c69fd46e60042e3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1e39aa8e3044d92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0ccd22464134e7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0434414-7FD2-4B3F-A4B0-8C31566208D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136BE9FC-E4D5-48C0-8DC1-AB3D7D830984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5C5B6052-41FD-459C-B93D-5E973952F1C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D6B88F1-5A24-4CBA-B441-97D51252E2E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EE1AE55F-5E87-44FB-954E-6BA0CEB42A4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B8FEEDC2-FAEB-4D12-A72A-E6F0F1359C3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82092633-6D1E-4400-82DC-AB7962BBDA2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7B372027-34E7-4410-85B5-82E4EF199FD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FB45107-C374-4874-AFEA-D6437E739B9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70C7EC32-CC10-4533-8D4E-8479219D2A6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721a4d0f1cb4023" /><Relationship Type="http://schemas.openxmlformats.org/officeDocument/2006/relationships/slideLayout" Target="/ppt/slideLayouts/slideLayout1.xml" Id="R24f360ae879d4c43" /><Relationship Type="http://schemas.openxmlformats.org/officeDocument/2006/relationships/slideLayout" Target="/ppt/slideLayouts/slideLayout2.xml" Id="R06a99e552d994c7f" /><Relationship Type="http://schemas.openxmlformats.org/officeDocument/2006/relationships/slideLayout" Target="/ppt/slideLayouts/slideLayout3.xml" Id="R30d280750cf9405d" /><Relationship Type="http://schemas.openxmlformats.org/officeDocument/2006/relationships/slideLayout" Target="/ppt/slideLayouts/slideLayout4.xml" Id="Rcfdd64de82b74e17" /><Relationship Type="http://schemas.openxmlformats.org/officeDocument/2006/relationships/slideLayout" Target="/ppt/slideLayouts/slideLayout5.xml" Id="R01b1f19d3cc446ea" /><Relationship Type="http://schemas.openxmlformats.org/officeDocument/2006/relationships/slideLayout" Target="/ppt/slideLayouts/slideLayout6.xml" Id="Rcfa0b0f77c99432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4f360ae879d4c43"/>
    <p:sldLayoutId xmlns:r="http://schemas.openxmlformats.org/officeDocument/2006/relationships" id="2147483650" r:id="R06a99e552d994c7f"/>
    <p:sldLayoutId xmlns:r="http://schemas.openxmlformats.org/officeDocument/2006/relationships" id="2147483651" r:id="R30d280750cf9405d"/>
    <p:sldLayoutId xmlns:r="http://schemas.openxmlformats.org/officeDocument/2006/relationships" id="2147483652" r:id="Rcfdd64de82b74e17"/>
    <p:sldLayoutId xmlns:r="http://schemas.openxmlformats.org/officeDocument/2006/relationships" id="2147483653" r:id="R01b1f19d3cc446ea"/>
    <p:sldLayoutId xmlns:r="http://schemas.openxmlformats.org/officeDocument/2006/relationships" id="2147483654" r:id="Rcfa0b0f77c99432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69be21c212d429c" /><Relationship Type="http://schemas.openxmlformats.org/officeDocument/2006/relationships/notesSlide" Target="/ppt/notesSlides/notesSlide1.xml" Id="Rb111345b5278435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3577272cf75488b" /><Relationship Type="http://schemas.openxmlformats.org/officeDocument/2006/relationships/image" Target="/ppt/media/image.jpeg" Id="R3ba8d3705248470f" /><Relationship Type="http://schemas.openxmlformats.org/officeDocument/2006/relationships/notesSlide" Target="/ppt/notesSlides/notesSlide2.xml" Id="Rce4f2b76e6834e2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2447e8f4b1240e9" /><Relationship Type="http://schemas.openxmlformats.org/officeDocument/2006/relationships/notesSlide" Target="/ppt/notesSlides/notesSlide3.xml" Id="R43b0758f3a804c1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1cc4d0297034af8" /><Relationship Type="http://schemas.openxmlformats.org/officeDocument/2006/relationships/notesSlide" Target="/ppt/notesSlides/notesSlide4.xml" Id="R5ea7525d732f40c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e0521faec104bdc" /><Relationship Type="http://schemas.openxmlformats.org/officeDocument/2006/relationships/notesSlide" Target="/ppt/notesSlides/notesSlide5.xml" Id="Rb6611a5b224c497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d2145e1cd394e18" /><Relationship Type="http://schemas.openxmlformats.org/officeDocument/2006/relationships/notesSlide" Target="/ppt/notesSlides/notesSlide6.xml" Id="R32acba95d7a741a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062982890fb45b8" /><Relationship Type="http://schemas.openxmlformats.org/officeDocument/2006/relationships/notesSlide" Target="/ppt/notesSlides/notesSlide7.xml" Id="R42bace079f354fd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ac8c48239014f2f" /><Relationship Type="http://schemas.openxmlformats.org/officeDocument/2006/relationships/image" Target="/ppt/media/image.png" Id="R3a686045c2414e95" /><Relationship Type="http://schemas.openxmlformats.org/officeDocument/2006/relationships/notesSlide" Target="/ppt/notesSlides/notesSlide8.xml" Id="R004a5a84a8094dd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8e6765be037417e" /><Relationship Type="http://schemas.openxmlformats.org/officeDocument/2006/relationships/notesSlide" Target="/ppt/notesSlides/notesSlide9.xml" Id="R30b528b726c54269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3263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A1FDD63-2576-4BC2-B847-1F09C866D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10972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6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6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6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6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6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6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6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6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6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6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6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SENTRY SWM-2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5C77AAD-E7E6-489A-AD84-F64EE7949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8615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0">
                <a:solidFill>
                  <a:srgbClr val="6DE0D3"/>
                </a:solidFill>
                <a:latin typeface="Arial"/>
                <a:ea typeface="Arial"/>
                <a:cs typeface="Arial"/>
              </a:defRPr>
            </a:defPPr>
            <a:lvl1pPr>
              <a:defRPr sz="2550" b="0">
                <a:solidFill>
                  <a:srgbClr val="6DE0D3"/>
                </a:solidFill>
                <a:latin typeface="Arial"/>
                <a:ea typeface="Arial"/>
                <a:cs typeface="Arial"/>
              </a:defRPr>
            </a:lvl1pPr>
            <a:lvl2pPr>
              <a:defRPr sz="2550" b="0">
                <a:solidFill>
                  <a:srgbClr val="6DE0D3"/>
                </a:solidFill>
                <a:latin typeface="Arial"/>
                <a:ea typeface="Arial"/>
                <a:cs typeface="Arial"/>
              </a:defRPr>
            </a:lvl2pPr>
            <a:lvl3pPr>
              <a:defRPr sz="2550" b="0">
                <a:solidFill>
                  <a:srgbClr val="6DE0D3"/>
                </a:solidFill>
                <a:latin typeface="Arial"/>
                <a:ea typeface="Arial"/>
                <a:cs typeface="Arial"/>
              </a:defRPr>
            </a:lvl3pPr>
            <a:lvl4pPr>
              <a:defRPr sz="2550" b="0">
                <a:solidFill>
                  <a:srgbClr val="6DE0D3"/>
                </a:solidFill>
                <a:latin typeface="Arial"/>
                <a:ea typeface="Arial"/>
                <a:cs typeface="Arial"/>
              </a:defRPr>
            </a:lvl4pPr>
            <a:lvl5pPr>
              <a:defRPr sz="2550" b="0">
                <a:solidFill>
                  <a:srgbClr val="6DE0D3"/>
                </a:solidFill>
                <a:latin typeface="Arial"/>
                <a:ea typeface="Arial"/>
                <a:cs typeface="Arial"/>
              </a:defRPr>
            </a:lvl5pPr>
            <a:lvl6pPr>
              <a:defRPr sz="2550" b="0">
                <a:solidFill>
                  <a:srgbClr val="6DE0D3"/>
                </a:solidFill>
                <a:latin typeface="Arial"/>
                <a:ea typeface="Arial"/>
                <a:cs typeface="Arial"/>
              </a:defRPr>
            </a:lvl6pPr>
            <a:lvl7pPr>
              <a:defRPr sz="2550" b="0">
                <a:solidFill>
                  <a:srgbClr val="6DE0D3"/>
                </a:solidFill>
                <a:latin typeface="Arial"/>
                <a:ea typeface="Arial"/>
                <a:cs typeface="Arial"/>
              </a:defRPr>
            </a:lvl7pPr>
            <a:lvl8pPr>
              <a:defRPr sz="2550" b="0">
                <a:solidFill>
                  <a:srgbClr val="6DE0D3"/>
                </a:solidFill>
                <a:latin typeface="Arial"/>
                <a:ea typeface="Arial"/>
                <a:cs typeface="Arial"/>
              </a:defRPr>
            </a:lvl8pPr>
            <a:lvl9pPr>
              <a:defRPr sz="2550" b="0">
                <a:solidFill>
                  <a:srgbClr val="6DE0D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550" b="0">
                <a:solidFill>
                  <a:srgbClr val="6DE0D3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6DE0D3"/>
                </a:solidFill>
                <a:latin typeface="Arial"/>
                <a:ea typeface="Arial"/>
                <a:cs typeface="Arial"/>
              </a:rPr>
              <a:t>2.1.0 stable → 2.3.0 beta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5EF16DE-5D2D-4F48-A076-C3E1FD2CF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0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C6D4E1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C6D4E1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C6D4E1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C6D4E1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C6D4E1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C6D4E1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C6D4E1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C6D4E1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C6D4E1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C6D4E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C6D4E1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C6D4E1"/>
                </a:solidFill>
                <a:latin typeface="Arial"/>
                <a:ea typeface="Arial"/>
                <a:cs typeface="Arial"/>
              </a:rPr>
              <a:t>Embedded QA Engineer · Курсовий проєкт</a:t>
            </a:r>
          </a:p>
        </p:txBody>
      </p:sp>
    </p:spTree>
    <p:extLst>
      <p:ext uri="{BB962C8B-B14F-4D97-AF65-F5344CB8AC3E}">
        <p14:creationId xmlns:p14="http://schemas.microsoft.com/office/powerpoint/2010/main" val="145937207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E0F867E-6F43-4F5B-A2A0-B8E79F8CD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defPPr>
            <a:lvl1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82D45"/>
                </a:solidFill>
                <a:latin typeface="Arial"/>
                <a:ea typeface="Arial"/>
                <a:cs typeface="Arial"/>
              </a:rPr>
              <a:t>Об’єкт тестування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FC92043-31C5-4579-90CC-0E593B304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7048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0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0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087F8C"/>
                </a:solidFill>
                <a:latin typeface="Arial"/>
                <a:ea typeface="Arial"/>
                <a:cs typeface="Arial"/>
              </a:rPr>
              <a:t>ESP32-S3 N16R8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B482D59-1B7D-43CB-8860-4D2ECF0D5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00300"/>
            <a:ext cx="704850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defPPr>
            <a:lvl1pPr>
              <a:defRPr sz="24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1pPr>
            <a:lvl2pPr>
              <a:defRPr sz="24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2pPr>
            <a:lvl3pPr>
              <a:defRPr sz="24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3pPr>
            <a:lvl4pPr>
              <a:defRPr sz="24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4pPr>
            <a:lvl5pPr>
              <a:defRPr sz="24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5pPr>
            <a:lvl6pPr>
              <a:defRPr sz="24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6pPr>
            <a:lvl7pPr>
              <a:defRPr sz="24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7pPr>
            <a:lvl8pPr>
              <a:defRPr sz="24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8pPr>
            <a:lvl9pPr>
              <a:defRPr sz="24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4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82D45"/>
                </a:solidFill>
                <a:latin typeface="Arial"/>
                <a:ea typeface="Arial"/>
                <a:cs typeface="Arial"/>
              </a:rPr>
              <a:t>Прошивка SENTRY SWM-2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133CC64-5115-4246-A1DF-9BB8C5826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62300"/>
            <a:ext cx="70485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82D45"/>
                </a:solidFill>
                <a:latin typeface="Arial"/>
                <a:ea typeface="Arial"/>
                <a:cs typeface="Arial"/>
              </a:rPr>
              <a:t>Навчальна модель гідроакустичної вахти:</a:t>
            </a:r>
          </a:p>
          <a:p xmlns:a="http://schemas.openxmlformats.org/drawingml/2006/main">
            <a:pPr>
              <a:defRPr sz="21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82D45"/>
                </a:solidFill>
                <a:latin typeface="Arial"/>
                <a:ea typeface="Arial"/>
                <a:cs typeface="Arial"/>
              </a:rPr>
              <a:t>сонар, реле, RGB-лампа, телеметрія</a:t>
            </a:r>
          </a:p>
          <a:p xmlns:a="http://schemas.openxmlformats.org/drawingml/2006/main">
            <a:pPr>
              <a:defRPr sz="21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82D45"/>
                </a:solidFill>
                <a:latin typeface="Arial"/>
                <a:ea typeface="Arial"/>
                <a:cs typeface="Arial"/>
              </a:rPr>
              <a:t>та сповіщення.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C4CF2D0-8D88-4F28-958B-2E8414154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43450"/>
            <a:ext cx="70485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defPPr>
            <a:lvl1pPr>
              <a:defRPr sz="2325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1pPr>
            <a:lvl2pPr>
              <a:defRPr sz="2325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2pPr>
            <a:lvl3pPr>
              <a:defRPr sz="2325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3pPr>
            <a:lvl4pPr>
              <a:defRPr sz="2325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4pPr>
            <a:lvl5pPr>
              <a:defRPr sz="2325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5pPr>
            <a:lvl6pPr>
              <a:defRPr sz="2325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6pPr>
            <a:lvl7pPr>
              <a:defRPr sz="2325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7pPr>
            <a:lvl8pPr>
              <a:defRPr sz="2325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8pPr>
            <a:lvl9pPr>
              <a:defRPr sz="2325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325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82D45"/>
                </a:solidFill>
                <a:latin typeface="Arial"/>
                <a:ea typeface="Arial"/>
                <a:cs typeface="Arial"/>
              </a:rPr>
              <a:t>2.1.0 stable та 2.3.0 beta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2692D35-5D9B-4870-8B2D-8C993DBB2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76875"/>
            <a:ext cx="70485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566A80"/>
                </a:solidFill>
                <a:latin typeface="Arial"/>
                <a:ea typeface="Arial"/>
                <a:cs typeface="Arial"/>
              </a:rPr>
              <a:t>Очікувана поведінка — PRD.md</a:t>
            </a:r>
          </a:p>
          <a:p xmlns:a="http://schemas.openxmlformats.org/drawingml/2006/main">
            <a:pPr>
              <a:defRPr sz="2025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566A80"/>
                </a:solidFill>
                <a:latin typeface="Arial"/>
                <a:ea typeface="Arial"/>
                <a:cs typeface="Arial"/>
              </a:rPr>
              <a:t>Керування через UART 115200 8N1</a:t>
            </a:r>
          </a:p>
        </p:txBody>
      </p:sp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5BC005-BBFC-4845-8E96-946E809BE84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ba8d3705248470f"/>
          <a:stretch xmlns:a="http://schemas.openxmlformats.org/drawingml/2006/main"/>
        </p:blipFill>
        <p:spPr>
          <a:xfrm xmlns:a="http://schemas.openxmlformats.org/drawingml/2006/main">
            <a:off x="8143875" y="1558925"/>
            <a:ext cx="3333750" cy="444500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FD0DAD6-9826-4B1C-B16A-668285B8D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438900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66A80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17445107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CE67E86-1CD3-4F19-9F02-CA7366F0F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defPPr>
            <a:lvl1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82D45"/>
                </a:solidFill>
                <a:latin typeface="Arial"/>
                <a:ea typeface="Arial"/>
                <a:cs typeface="Arial"/>
              </a:rPr>
              <a:t>Функції під тестуванням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CED9320-24F0-4F85-985B-CBBEF5EF8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438900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66A80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967A9D1-554F-4EAF-90A5-B17686434504}"/>
              </a:ext>
            </a:extLst>
          </p:cNvPr>
          <p:cNvGraphicFramePr/>
          <p:nvPr/>
        </p:nvGraphicFramePr>
        <p:xfrm>
          <a:off xmlns:a="http://schemas.openxmlformats.org/drawingml/2006/main" x="609600" y="1562100"/>
          <a:ext xmlns:a="http://schemas.openxmlformats.org/drawingml/2006/main" cx="10972800" cy="34671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286000"/>
                <a:gridCol w="6381750"/>
                <a:gridCol w="2305050"/>
              </a:tblGrid>
              <a:tr h="57785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Фіча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E1EA"/>
                      </a:solidFill>
                      <a:prstDash val="solid"/>
                    </a:lnL>
                    <a:lnR w="9525">
                      <a:solidFill>
                        <a:srgbClr val="D9E1EA"/>
                      </a:solidFill>
                      <a:prstDash val="solid"/>
                    </a:lnR>
                    <a:lnT w="9525">
                      <a:solidFill>
                        <a:srgbClr val="D9E1EA"/>
                      </a:solidFill>
                      <a:prstDash val="solid"/>
                    </a:lnT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182D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Основні перевірки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T w="9525">
                      <a:solidFill>
                        <a:srgbClr val="D9E1EA"/>
                      </a:solidFill>
                      <a:prstDash val="solid"/>
                    </a:lnT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182D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Auto-кейси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T w="9525">
                      <a:solidFill>
                        <a:srgbClr val="D9E1EA"/>
                      </a:solidFill>
                      <a:prstDash val="solid"/>
                    </a:lnT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182D45"/>
                    </a:solidFill>
                  </a:tcPr>
                </a:tc>
              </a:tr>
              <a:tr h="57785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Лампа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E1EA"/>
                      </a:solidFill>
                      <a:prstDash val="solid"/>
                    </a:lnL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RGB, яскравість, таймер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7785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Реле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E1EA"/>
                      </a:solidFill>
                      <a:prstDash val="solid"/>
                    </a:lnL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1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Стан, pulse, schedule, cycles, NVS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1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1F5F8"/>
                    </a:solidFill>
                  </a:tcPr>
                </a:tc>
              </a:tr>
              <a:tr h="57785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Телеметрія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E1EA"/>
                      </a:solidFill>
                      <a:prstDash val="solid"/>
                    </a:lnL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Поля, межі інтервалу, off, NVS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7785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Акаунт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E1EA"/>
                      </a:solidFill>
                      <a:prstDash val="solid"/>
                    </a:lnL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1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Вхід, lockout, пароль, logout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1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1F5F8"/>
                    </a:solidFill>
                  </a:tcPr>
                </a:tc>
              </a:tr>
              <a:tr h="57785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Alert center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E1EA"/>
                      </a:solidFill>
                      <a:prstDash val="solid"/>
                    </a:lnL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E099 у stable; test, ack, clear у beta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0C42C84-87A2-4321-9490-5CA67C695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43525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defPPr>
            <a:lvl1pPr>
              <a:defRPr sz="24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1pPr>
            <a:lvl2pPr>
              <a:defRPr sz="24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2pPr>
            <a:lvl3pPr>
              <a:defRPr sz="24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3pPr>
            <a:lvl4pPr>
              <a:defRPr sz="24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4pPr>
            <a:lvl5pPr>
              <a:defRPr sz="24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5pPr>
            <a:lvl6pPr>
              <a:defRPr sz="24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6pPr>
            <a:lvl7pPr>
              <a:defRPr sz="24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7pPr>
            <a:lvl8pPr>
              <a:defRPr sz="24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8pPr>
            <a:lvl9pPr>
              <a:defRPr sz="24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4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087F8C"/>
                </a:solidFill>
                <a:latin typeface="Arial"/>
                <a:ea typeface="Arial"/>
                <a:cs typeface="Arial"/>
              </a:rPr>
              <a:t>32 автоматизовані кейси</a:t>
            </a:r>
          </a:p>
        </p:txBody>
      </p:sp>
    </p:spTree>
    <p:extLst>
      <p:ext uri="{BB962C8B-B14F-4D97-AF65-F5344CB8AC3E}">
        <p14:creationId xmlns:p14="http://schemas.microsoft.com/office/powerpoint/2010/main" val="95011875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F2D1808-9453-4428-B979-EB6572748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defPPr>
            <a:lvl1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82D45"/>
                </a:solidFill>
                <a:latin typeface="Arial"/>
                <a:ea typeface="Arial"/>
                <a:cs typeface="Arial"/>
              </a:rPr>
              <a:t>Фреймворк і реальний UART-стенд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1C4F18D-364B-4888-A659-2C30D36DE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438900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66A80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0D483DC-E399-4EB1-B858-C741B9C2E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85900"/>
            <a:ext cx="10972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defPPr>
            <a:lvl1pPr>
              <a:defRPr sz="25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1pPr>
            <a:lvl2pPr>
              <a:defRPr sz="25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2pPr>
            <a:lvl3pPr>
              <a:defRPr sz="25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3pPr>
            <a:lvl4pPr>
              <a:defRPr sz="25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4pPr>
            <a:lvl5pPr>
              <a:defRPr sz="25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5pPr>
            <a:lvl6pPr>
              <a:defRPr sz="25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6pPr>
            <a:lvl7pPr>
              <a:defRPr sz="25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7pPr>
            <a:lvl8pPr>
              <a:defRPr sz="25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8pPr>
            <a:lvl9pPr>
              <a:defRPr sz="25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5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87F8C"/>
                </a:solidFill>
                <a:latin typeface="Arial"/>
                <a:ea typeface="Arial"/>
                <a:cs typeface="Arial"/>
              </a:rPr>
              <a:t>pytest → фікстури → UART-драйвер → ESP32-S3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54F991F-C478-41CF-831B-8FA2F6CED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47925"/>
            <a:ext cx="266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defPPr>
            <a:lvl1pPr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1pPr>
            <a:lvl2pPr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2pPr>
            <a:lvl3pPr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3pPr>
            <a:lvl4pPr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4pPr>
            <a:lvl5pPr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5pPr>
            <a:lvl6pPr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6pPr>
            <a:lvl7pPr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7pPr>
            <a:lvl8pPr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8pPr>
            <a:lvl9pPr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82D45"/>
                </a:solidFill>
                <a:latin typeface="Arial"/>
                <a:ea typeface="Arial"/>
                <a:cs typeface="Arial"/>
              </a:rPr>
              <a:t>Підключення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58FCBAA-5491-400E-A203-1BAD4B23B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390775"/>
            <a:ext cx="77152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82D45"/>
                </a:solidFill>
                <a:latin typeface="Arial"/>
                <a:ea typeface="Arial"/>
                <a:cs typeface="Arial"/>
              </a:rPr>
              <a:t>Mac, USB/UART 115200 8N1</a:t>
            </a:r>
          </a:p>
          <a:p xmlns:a="http://schemas.openxmlformats.org/drawingml/2006/main">
            <a:pPr>
              <a:defRPr sz="21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82D45"/>
                </a:solidFill>
                <a:latin typeface="Arial"/>
                <a:ea typeface="Arial"/>
                <a:cs typeface="Arial"/>
              </a:rPr>
              <a:t>Автопошук порта за VID 1A86 або --port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3F9F76F-04FF-474C-A696-ABDDDC609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00450"/>
            <a:ext cx="266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defPPr>
            <a:lvl1pPr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1pPr>
            <a:lvl2pPr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2pPr>
            <a:lvl3pPr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3pPr>
            <a:lvl4pPr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4pPr>
            <a:lvl5pPr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5pPr>
            <a:lvl6pPr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6pPr>
            <a:lvl7pPr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7pPr>
            <a:lvl8pPr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8pPr>
            <a:lvl9pPr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82D45"/>
                </a:solidFill>
                <a:latin typeface="Arial"/>
                <a:ea typeface="Arial"/>
                <a:cs typeface="Arial"/>
              </a:rPr>
              <a:t>Фікстури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61C11A2-D96A-4A59-ABB8-B6B442924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533775"/>
            <a:ext cx="77152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82D45"/>
                </a:solidFill>
                <a:latin typeface="Arial"/>
                <a:ea typeface="Arial"/>
                <a:cs typeface="Arial"/>
              </a:rPr>
              <a:t>dut: одна сесія UART, версія й авторизація</a:t>
            </a:r>
          </a:p>
          <a:p xmlns:a="http://schemas.openxmlformats.org/drawingml/2006/main">
            <a:pPr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82D45"/>
                </a:solidFill>
                <a:latin typeface="Arial"/>
                <a:ea typeface="Arial"/>
                <a:cs typeface="Arial"/>
              </a:rPr>
              <a:t>device: передумови, лог і очищення кожного кейсу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1EE41E2-818E-4591-B3CD-A15F69782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67275"/>
            <a:ext cx="266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defPPr>
            <a:lvl1pPr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1pPr>
            <a:lvl2pPr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2pPr>
            <a:lvl3pPr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3pPr>
            <a:lvl4pPr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4pPr>
            <a:lvl5pPr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5pPr>
            <a:lvl6pPr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6pPr>
            <a:lvl7pPr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7pPr>
            <a:lvl8pPr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8pPr>
            <a:lvl9pPr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82D45"/>
                </a:solidFill>
                <a:latin typeface="Arial"/>
                <a:ea typeface="Arial"/>
                <a:cs typeface="Arial"/>
              </a:rPr>
              <a:t>Докази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1C12269-0C8C-4EF3-85AB-39215FA54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800600"/>
            <a:ext cx="77152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82D45"/>
                </a:solidFill>
                <a:latin typeface="Arial"/>
                <a:ea typeface="Arial"/>
                <a:cs typeface="Arial"/>
              </a:rPr>
              <a:t>Окремі TX/RX-логи з часовими мітками</a:t>
            </a:r>
          </a:p>
          <a:p xmlns:a="http://schemas.openxmlformats.org/drawingml/2006/main">
            <a:pPr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82D45"/>
                </a:solidFill>
                <a:latin typeface="Arial"/>
                <a:ea typeface="Arial"/>
                <a:cs typeface="Arial"/>
              </a:rPr>
              <a:t>Паролі приховуються; JSON, Markdown і JUnit-звіти</a:t>
            </a:r>
          </a:p>
        </p:txBody>
      </p:sp>
    </p:spTree>
    <p:extLst>
      <p:ext uri="{BB962C8B-B14F-4D97-AF65-F5344CB8AC3E}">
        <p14:creationId xmlns:p14="http://schemas.microsoft.com/office/powerpoint/2010/main" val="124789101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F7C233-9C88-4798-8D8A-D7AF4631A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defPPr>
            <a:lvl1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82D45"/>
                </a:solidFill>
                <a:latin typeface="Arial"/>
                <a:ea typeface="Arial"/>
                <a:cs typeface="Arial"/>
              </a:rPr>
              <a:t>Тест-дизайн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43A3779-A124-4C33-BABA-1D0C6153F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438900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66A80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35CEBC-C431-41D3-BCD8-965EEE49B6CE}"/>
              </a:ext>
            </a:extLst>
          </p:cNvPr>
          <p:cNvGraphicFramePr/>
          <p:nvPr/>
        </p:nvGraphicFramePr>
        <p:xfrm>
          <a:off xmlns:a="http://schemas.openxmlformats.org/drawingml/2006/main" x="609600" y="1657350"/>
          <a:ext xmlns:a="http://schemas.openxmlformats.org/drawingml/2006/main" cx="10972800" cy="26479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429000"/>
                <a:gridCol w="3771900"/>
                <a:gridCol w="3771900"/>
              </a:tblGrid>
              <a:tr h="661988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Перевірка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E1EA"/>
                      </a:solidFill>
                      <a:prstDash val="solid"/>
                    </a:lnL>
                    <a:lnR w="9525">
                      <a:solidFill>
                        <a:srgbClr val="D9E1EA"/>
                      </a:solidFill>
                      <a:prstDash val="solid"/>
                    </a:lnR>
                    <a:lnT w="9525">
                      <a:solidFill>
                        <a:srgbClr val="D9E1EA"/>
                      </a:solidFill>
                      <a:prstDash val="solid"/>
                    </a:lnT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182D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Допустимі значення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T w="9525">
                      <a:solidFill>
                        <a:srgbClr val="D9E1EA"/>
                      </a:solidFill>
                      <a:prstDash val="solid"/>
                    </a:lnT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182D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За межами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T w="9525">
                      <a:solidFill>
                        <a:srgbClr val="D9E1EA"/>
                      </a:solidFill>
                      <a:prstDash val="solid"/>
                    </a:lnT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182D45"/>
                    </a:solidFill>
                  </a:tcPr>
                </a:tc>
              </a:tr>
              <a:tr h="661988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relay pulse, мс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E1EA"/>
                      </a:solidFill>
                      <a:prstDash val="solid"/>
                    </a:lnL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100, 1000, 10000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−1, 0, 99, 10001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61988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health interval, с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E1EA"/>
                      </a:solidFill>
                      <a:prstDash val="solid"/>
                    </a:lnL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1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10, 300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1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9, 301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1F5F8"/>
                    </a:solidFill>
                  </a:tcPr>
                </a:tc>
              </a:tr>
              <a:tr h="661988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Довжина пароля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E1EA"/>
                      </a:solidFill>
                      <a:prstDash val="solid"/>
                    </a:lnL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6, 32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5, 33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786E1EC-48C0-4E2C-95B5-C5E838E44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76775"/>
            <a:ext cx="10972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defPPr>
            <a:lvl1pPr>
              <a:defRPr sz="2175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1pPr>
            <a:lvl2pPr>
              <a:defRPr sz="2175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2pPr>
            <a:lvl3pPr>
              <a:defRPr sz="2175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3pPr>
            <a:lvl4pPr>
              <a:defRPr sz="2175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4pPr>
            <a:lvl5pPr>
              <a:defRPr sz="2175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5pPr>
            <a:lvl6pPr>
              <a:defRPr sz="2175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6pPr>
            <a:lvl7pPr>
              <a:defRPr sz="2175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7pPr>
            <a:lvl8pPr>
              <a:defRPr sz="2175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8pPr>
            <a:lvl9pPr>
              <a:defRPr sz="2175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82D45"/>
                </a:solidFill>
                <a:latin typeface="Arial"/>
                <a:ea typeface="Arial"/>
                <a:cs typeface="Arial"/>
              </a:rPr>
              <a:t>Переходи станів: on / off / toggle, lockout та clear alerts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08E2A2F-A658-491A-81D8-EF4058A7D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10200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defPPr>
            <a:lvl1pPr>
              <a:defRPr sz="19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1pPr>
            <a:lvl2pPr>
              <a:defRPr sz="19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2pPr>
            <a:lvl3pPr>
              <a:defRPr sz="19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3pPr>
            <a:lvl4pPr>
              <a:defRPr sz="19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4pPr>
            <a:lvl5pPr>
              <a:defRPr sz="19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5pPr>
            <a:lvl6pPr>
              <a:defRPr sz="19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6pPr>
            <a:lvl7pPr>
              <a:defRPr sz="19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7pPr>
            <a:lvl8pPr>
              <a:defRPr sz="19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8pPr>
            <a:lvl9pPr>
              <a:defRPr sz="19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66A80"/>
                </a:solidFill>
                <a:latin typeface="Arial"/>
                <a:ea typeface="Arial"/>
                <a:cs typeface="Arial"/>
              </a:rPr>
              <a:t>Збереження після reboot: cycles, інтервал health, пароль</a:t>
            </a:r>
          </a:p>
          <a:p xmlns:a="http://schemas.openxmlformats.org/drawingml/2006/main">
            <a:pPr>
              <a:defRPr sz="19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66A80"/>
                </a:solidFill>
                <a:latin typeface="Arial"/>
                <a:ea typeface="Arial"/>
                <a:cs typeface="Arial"/>
              </a:rPr>
              <a:t>Кожен параметр має власний результат і повний UART-лог.</a:t>
            </a:r>
          </a:p>
        </p:txBody>
      </p:sp>
    </p:spTree>
    <p:extLst>
      <p:ext uri="{BB962C8B-B14F-4D97-AF65-F5344CB8AC3E}">
        <p14:creationId xmlns:p14="http://schemas.microsoft.com/office/powerpoint/2010/main" val="114821310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AC76F4E-F38A-4109-946F-52E99C73F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defPPr>
            <a:lvl1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82D45"/>
                </a:solidFill>
                <a:latin typeface="Arial"/>
                <a:ea typeface="Arial"/>
                <a:cs typeface="Arial"/>
              </a:rPr>
              <a:t>Результати двох версій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D9992F1-5B57-4B57-93D8-0F6F7CA20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438900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66A80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ABCD297-A369-45D4-B2DD-1A7BC2834A22}"/>
              </a:ext>
            </a:extLst>
          </p:cNvPr>
          <p:cNvGraphicFramePr/>
          <p:nvPr/>
        </p:nvGraphicFramePr>
        <p:xfrm>
          <a:off xmlns:a="http://schemas.openxmlformats.org/drawingml/2006/main" x="609600" y="1657350"/>
          <a:ext xmlns:a="http://schemas.openxmlformats.org/drawingml/2006/main" cx="10972800" cy="21717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810000"/>
                <a:gridCol w="1790700"/>
                <a:gridCol w="1790700"/>
                <a:gridCol w="1790700"/>
                <a:gridCol w="1790700"/>
              </a:tblGrid>
              <a:tr h="723900">
                <a:tc>
                  <a:txBody>
                    <a:bodyPr/>
                    <a:lstStyle/>
                    <a:p>
                      <a:r>
                        <a:rPr sz="21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Версія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E1EA"/>
                      </a:solidFill>
                      <a:prstDash val="solid"/>
                    </a:lnL>
                    <a:lnR w="9525">
                      <a:solidFill>
                        <a:srgbClr val="D9E1EA"/>
                      </a:solidFill>
                      <a:prstDash val="solid"/>
                    </a:lnR>
                    <a:lnT w="9525">
                      <a:solidFill>
                        <a:srgbClr val="D9E1EA"/>
                      </a:solidFill>
                      <a:prstDash val="solid"/>
                    </a:lnT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182D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Pass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T w="9525">
                      <a:solidFill>
                        <a:srgbClr val="D9E1EA"/>
                      </a:solidFill>
                      <a:prstDash val="solid"/>
                    </a:lnT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182D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Fail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T w="9525">
                      <a:solidFill>
                        <a:srgbClr val="D9E1EA"/>
                      </a:solidFill>
                      <a:prstDash val="solid"/>
                    </a:lnT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182D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N/A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T w="9525">
                      <a:solidFill>
                        <a:srgbClr val="D9E1EA"/>
                      </a:solidFill>
                      <a:prstDash val="solid"/>
                    </a:lnT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182D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Blocked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T w="9525">
                      <a:solidFill>
                        <a:srgbClr val="D9E1EA"/>
                      </a:solidFill>
                      <a:prstDash val="solid"/>
                    </a:lnT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182D45"/>
                    </a:solidFill>
                  </a:tcPr>
                </a:tc>
              </a:tr>
              <a:tr h="723900"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2.1.0 stable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E1EA"/>
                      </a:solidFill>
                      <a:prstDash val="solid"/>
                    </a:lnL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57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23900"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2.3.0 beta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E1EA"/>
                      </a:solidFill>
                      <a:prstDash val="solid"/>
                    </a:lnL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1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63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1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1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1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1F5F8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55D17CD-8EF4-4B08-B80D-CF4226F31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76725"/>
            <a:ext cx="109728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defPPr>
            <a:lvl1pPr>
              <a:defRPr sz="25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1pPr>
            <a:lvl2pPr>
              <a:defRPr sz="25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2pPr>
            <a:lvl3pPr>
              <a:defRPr sz="25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3pPr>
            <a:lvl4pPr>
              <a:defRPr sz="25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4pPr>
            <a:lvl5pPr>
              <a:defRPr sz="25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5pPr>
            <a:lvl6pPr>
              <a:defRPr sz="25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6pPr>
            <a:lvl7pPr>
              <a:defRPr sz="25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7pPr>
            <a:lvl8pPr>
              <a:defRPr sz="25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8pPr>
            <a:lvl9pPr>
              <a:defRPr sz="25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5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87F8C"/>
                </a:solidFill>
                <a:latin typeface="Arial"/>
                <a:ea typeface="Arial"/>
                <a:cs typeface="Arial"/>
              </a:rPr>
              <a:t>70 автоматизованих варіантів на версію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4C5E2A8-FD7A-4471-9804-94B210CB5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62525"/>
            <a:ext cx="10668000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defPPr>
            <a:lvl1pPr>
              <a:defRPr sz="19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1pPr>
            <a:lvl2pPr>
              <a:defRPr sz="19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2pPr>
            <a:lvl3pPr>
              <a:defRPr sz="19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3pPr>
            <a:lvl4pPr>
              <a:defRPr sz="19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4pPr>
            <a:lvl5pPr>
              <a:defRPr sz="19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5pPr>
            <a:lvl6pPr>
              <a:defRPr sz="19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6pPr>
            <a:lvl7pPr>
              <a:defRPr sz="19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7pPr>
            <a:lvl8pPr>
              <a:defRPr sz="19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8pPr>
            <a:lvl9pPr>
              <a:defRPr sz="19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66A80"/>
                </a:solidFill>
                <a:latin typeface="Arial"/>
                <a:ea typeface="Arial"/>
                <a:cs typeface="Arial"/>
              </a:rPr>
              <a:t>N/A — сценарії, які не застосовуються до цієї версії.</a:t>
            </a:r>
          </a:p>
          <a:p xmlns:a="http://schemas.openxmlformats.org/drawingml/2006/main">
            <a:pPr>
              <a:defRPr sz="19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66A80"/>
                </a:solidFill>
                <a:latin typeface="Arial"/>
                <a:ea typeface="Arial"/>
                <a:cs typeface="Arial"/>
              </a:rPr>
              <a:t>Повторні відтворення не збільшують підсумок основних прогонів.</a:t>
            </a:r>
          </a:p>
        </p:txBody>
      </p:sp>
    </p:spTree>
    <p:extLst>
      <p:ext uri="{BB962C8B-B14F-4D97-AF65-F5344CB8AC3E}">
        <p14:creationId xmlns:p14="http://schemas.microsoft.com/office/powerpoint/2010/main" val="209600586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51D2CEA-CA20-4678-983B-5A9FD8AA1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defPPr>
            <a:lvl1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82D45"/>
                </a:solidFill>
                <a:latin typeface="Arial"/>
                <a:ea typeface="Arial"/>
                <a:cs typeface="Arial"/>
              </a:rPr>
              <a:t>Шість знайдених дефектів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CD8289-97B4-483E-ABB3-1D6508619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438900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66A80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7777EE0-77D9-47D7-9AFC-955CCEBEEB08}"/>
              </a:ext>
            </a:extLst>
          </p:cNvPr>
          <p:cNvGraphicFramePr/>
          <p:nvPr/>
        </p:nvGraphicFramePr>
        <p:xfrm>
          <a:off xmlns:a="http://schemas.openxmlformats.org/drawingml/2006/main" x="609600" y="1533525"/>
          <a:ext xmlns:a="http://schemas.openxmlformats.org/drawingml/2006/main" cx="10972800" cy="39433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428750"/>
                <a:gridCol w="6286500"/>
                <a:gridCol w="1628775"/>
                <a:gridCol w="1628775"/>
              </a:tblGrid>
              <a:tr h="563336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ID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E1EA"/>
                      </a:solidFill>
                      <a:prstDash val="solid"/>
                    </a:lnL>
                    <a:lnR w="9525">
                      <a:solidFill>
                        <a:srgbClr val="D9E1EA"/>
                      </a:solidFill>
                      <a:prstDash val="solid"/>
                    </a:lnR>
                    <a:lnT w="9525">
                      <a:solidFill>
                        <a:srgbClr val="D9E1EA"/>
                      </a:solidFill>
                      <a:prstDash val="solid"/>
                    </a:lnT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182D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Проблема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T w="9525">
                      <a:solidFill>
                        <a:srgbClr val="D9E1EA"/>
                      </a:solidFill>
                      <a:prstDash val="solid"/>
                    </a:lnT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182D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2.1.0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T w="9525">
                      <a:solidFill>
                        <a:srgbClr val="D9E1EA"/>
                      </a:solidFill>
                      <a:prstDash val="solid"/>
                    </a:lnT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182D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2.3.0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T w="9525">
                      <a:solidFill>
                        <a:srgbClr val="D9E1EA"/>
                      </a:solidFill>
                      <a:prstDash val="solid"/>
                    </a:lnT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182D45"/>
                    </a:solidFill>
                  </a:tcPr>
                </a:tc>
              </a:tr>
              <a:tr h="563336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LM-01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E1EA"/>
                      </a:solidFill>
                      <a:prstDash val="solid"/>
                    </a:lnL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lamp timer: ms у повідомленні замість 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Є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Не відтв.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336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RL-01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E1EA"/>
                      </a:solidFill>
                      <a:prstDash val="solid"/>
                    </a:lnL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1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pulse 99 виконується замість E603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1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Є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1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Є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1F5F8"/>
                    </a:solidFill>
                  </a:tcPr>
                </a:tc>
              </a:tr>
              <a:tr h="563336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RL-02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E1EA"/>
                      </a:solidFill>
                      <a:prstDash val="solid"/>
                    </a:lnL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Одне перемикання додає 2 до cycles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Є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Не відтв.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336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HL-01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E1EA"/>
                      </a:solidFill>
                      <a:prstDash val="solid"/>
                    </a:lnL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1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Допустимий health interval 300 відхиляється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1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Є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1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Не відтв.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1F5F8"/>
                    </a:solidFill>
                  </a:tcPr>
                </a:tc>
              </a:tr>
              <a:tr h="563336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AU-01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E1EA"/>
                      </a:solidFill>
                      <a:prstDash val="solid"/>
                    </a:lnL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Новий пароль не зберігається після reboot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Є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Не відтв.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336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AL-01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E1EA"/>
                      </a:solidFill>
                      <a:prstDash val="solid"/>
                    </a:lnL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1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Наявний alert ID відхиляється з E851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1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N/A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1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Є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1F5F8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493AE58-D6D2-48EC-A72B-F37597851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66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66A80"/>
                </a:solidFill>
                <a:latin typeface="Arial"/>
                <a:ea typeface="Arial"/>
                <a:cs typeface="Arial"/>
              </a:rPr>
              <a:t>Повні ID мають префікс BUG-. У beta лишаються RL-01 та AL-01.</a:t>
            </a:r>
          </a:p>
        </p:txBody>
      </p:sp>
    </p:spTree>
    <p:extLst>
      <p:ext uri="{BB962C8B-B14F-4D97-AF65-F5344CB8AC3E}">
        <p14:creationId xmlns:p14="http://schemas.microsoft.com/office/powerpoint/2010/main" val="35325397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B448332-4F00-4DEA-99FE-47601CD66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defPPr>
            <a:lvl1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82D45"/>
                </a:solidFill>
                <a:latin typeface="Arial"/>
                <a:ea typeface="Arial"/>
                <a:cs typeface="Arial"/>
              </a:rPr>
              <a:t>Теоретичний HIL-стенд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54E2F06-CDF0-4CB2-95CC-2457632C9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438900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66A80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324FDE0-20A5-4A86-9B64-AA2BBF13402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a686045c2414e95"/>
          <a:stretch xmlns:a="http://schemas.openxmlformats.org/drawingml/2006/main"/>
        </p:blipFill>
        <p:spPr>
          <a:xfrm xmlns:a="http://schemas.openxmlformats.org/drawingml/2006/main">
            <a:off x="381000" y="1201189"/>
            <a:ext cx="8039100" cy="5408122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41A6FA4-73FF-4270-A6FC-0C634C744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1657350"/>
            <a:ext cx="2952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defPPr>
            <a:lvl1pPr>
              <a:defRPr sz="18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1pPr>
            <a:lvl2pPr>
              <a:defRPr sz="18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2pPr>
            <a:lvl3pPr>
              <a:defRPr sz="18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3pPr>
            <a:lvl4pPr>
              <a:defRPr sz="18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4pPr>
            <a:lvl5pPr>
              <a:defRPr sz="18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5pPr>
            <a:lvl6pPr>
              <a:defRPr sz="18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6pPr>
            <a:lvl7pPr>
              <a:defRPr sz="18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7pPr>
            <a:lvl8pPr>
              <a:defRPr sz="18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8pPr>
            <a:lvl9pPr>
              <a:defRPr sz="18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2D45"/>
                </a:solidFill>
                <a:latin typeface="Arial"/>
                <a:ea typeface="Arial"/>
                <a:cs typeface="Arial"/>
              </a:rPr>
              <a:t>Raspberry Pi + pytest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2D2F1B1-D5ED-4834-8D86-6F0688E45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667000"/>
            <a:ext cx="2952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82D45"/>
                </a:solidFill>
                <a:latin typeface="Arial"/>
                <a:ea typeface="Arial"/>
                <a:cs typeface="Arial"/>
              </a:rPr>
              <a:t>RP2040 імітує кнопки</a:t>
            </a:r>
          </a:p>
          <a:p xmlns:a="http://schemas.openxmlformats.org/drawingml/2006/main">
            <a:pPr>
              <a:defRPr sz="18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82D45"/>
                </a:solidFill>
                <a:latin typeface="Arial"/>
                <a:ea typeface="Arial"/>
                <a:cs typeface="Arial"/>
              </a:rPr>
              <a:t>та ECHO датчика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7AF85F2-6EDE-4965-B382-B270AECE2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3867150"/>
            <a:ext cx="2952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82D45"/>
                </a:solidFill>
                <a:latin typeface="Arial"/>
                <a:ea typeface="Arial"/>
                <a:cs typeface="Arial"/>
              </a:rPr>
              <a:t>Контакти, LED і кінцевики</a:t>
            </a:r>
          </a:p>
          <a:p xmlns:a="http://schemas.openxmlformats.org/drawingml/2006/main">
            <a:pPr>
              <a:defRPr sz="18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82D45"/>
                </a:solidFill>
                <a:latin typeface="Arial"/>
                <a:ea typeface="Arial"/>
                <a:cs typeface="Arial"/>
              </a:rPr>
              <a:t>дають зворотний зв’язок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A84869C-C665-4725-9F6C-E4E2D2FEA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5143500"/>
            <a:ext cx="2952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82D45"/>
                </a:solidFill>
                <a:latin typeface="Arial"/>
                <a:ea typeface="Arial"/>
                <a:cs typeface="Arial"/>
              </a:rPr>
              <a:t>CI зберігає докази;</a:t>
            </a:r>
          </a:p>
          <a:p xmlns:a="http://schemas.openxmlformats.org/drawingml/2006/main">
            <a:pPr>
              <a:defRPr sz="18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82D45"/>
                </a:solidFill>
                <a:latin typeface="Arial"/>
                <a:ea typeface="Arial"/>
                <a:cs typeface="Arial"/>
              </a:rPr>
              <a:t>Mosquitto передає події</a:t>
            </a:r>
          </a:p>
        </p:txBody>
      </p:sp>
    </p:spTree>
    <p:extLst>
      <p:ext uri="{BB962C8B-B14F-4D97-AF65-F5344CB8AC3E}">
        <p14:creationId xmlns:p14="http://schemas.microsoft.com/office/powerpoint/2010/main" val="192867703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D821F03-8643-4692-89AE-A5E3A1CED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defPPr>
            <a:lvl1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82D45"/>
                </a:solidFill>
                <a:latin typeface="Arial"/>
                <a:ea typeface="Arial"/>
                <a:cs typeface="Arial"/>
              </a:rPr>
              <a:t>Висновок щодо 2.3.0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771CCDF-DAB4-409F-9ED5-13AF7C40C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438900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66A80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4299937-A8B5-47EA-9E71-F2F3A9F69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14475"/>
            <a:ext cx="109728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5700" b="1">
                <a:solidFill>
                  <a:srgbClr val="B42336"/>
                </a:solidFill>
                <a:latin typeface="Arial"/>
                <a:ea typeface="Arial"/>
                <a:cs typeface="Arial"/>
              </a:defRPr>
            </a:defPPr>
            <a:lvl1pPr>
              <a:defRPr sz="5700" b="1">
                <a:solidFill>
                  <a:srgbClr val="B42336"/>
                </a:solidFill>
                <a:latin typeface="Arial"/>
                <a:ea typeface="Arial"/>
                <a:cs typeface="Arial"/>
              </a:defRPr>
            </a:lvl1pPr>
            <a:lvl2pPr>
              <a:defRPr sz="5700" b="1">
                <a:solidFill>
                  <a:srgbClr val="B42336"/>
                </a:solidFill>
                <a:latin typeface="Arial"/>
                <a:ea typeface="Arial"/>
                <a:cs typeface="Arial"/>
              </a:defRPr>
            </a:lvl2pPr>
            <a:lvl3pPr>
              <a:defRPr sz="5700" b="1">
                <a:solidFill>
                  <a:srgbClr val="B42336"/>
                </a:solidFill>
                <a:latin typeface="Arial"/>
                <a:ea typeface="Arial"/>
                <a:cs typeface="Arial"/>
              </a:defRPr>
            </a:lvl3pPr>
            <a:lvl4pPr>
              <a:defRPr sz="5700" b="1">
                <a:solidFill>
                  <a:srgbClr val="B42336"/>
                </a:solidFill>
                <a:latin typeface="Arial"/>
                <a:ea typeface="Arial"/>
                <a:cs typeface="Arial"/>
              </a:defRPr>
            </a:lvl4pPr>
            <a:lvl5pPr>
              <a:defRPr sz="5700" b="1">
                <a:solidFill>
                  <a:srgbClr val="B42336"/>
                </a:solidFill>
                <a:latin typeface="Arial"/>
                <a:ea typeface="Arial"/>
                <a:cs typeface="Arial"/>
              </a:defRPr>
            </a:lvl5pPr>
            <a:lvl6pPr>
              <a:defRPr sz="5700" b="1">
                <a:solidFill>
                  <a:srgbClr val="B42336"/>
                </a:solidFill>
                <a:latin typeface="Arial"/>
                <a:ea typeface="Arial"/>
                <a:cs typeface="Arial"/>
              </a:defRPr>
            </a:lvl6pPr>
            <a:lvl7pPr>
              <a:defRPr sz="5700" b="1">
                <a:solidFill>
                  <a:srgbClr val="B42336"/>
                </a:solidFill>
                <a:latin typeface="Arial"/>
                <a:ea typeface="Arial"/>
                <a:cs typeface="Arial"/>
              </a:defRPr>
            </a:lvl7pPr>
            <a:lvl8pPr>
              <a:defRPr sz="5700" b="1">
                <a:solidFill>
                  <a:srgbClr val="B42336"/>
                </a:solidFill>
                <a:latin typeface="Arial"/>
                <a:ea typeface="Arial"/>
                <a:cs typeface="Arial"/>
              </a:defRPr>
            </a:lvl8pPr>
            <a:lvl9pPr>
              <a:defRPr sz="5700" b="1">
                <a:solidFill>
                  <a:srgbClr val="B4233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5700" b="1">
                <a:solidFill>
                  <a:srgbClr val="B42336"/>
                </a:solidFill>
                <a:latin typeface="Arial"/>
                <a:ea typeface="Arial"/>
                <a:cs typeface="Arial"/>
              </a:defRPr>
            </a:pPr>
            <a:r>
              <a:rPr sz="5700" b="1">
                <a:solidFill>
                  <a:srgbClr val="B42336"/>
                </a:solidFill>
                <a:latin typeface="Arial"/>
                <a:ea typeface="Arial"/>
                <a:cs typeface="Arial"/>
              </a:rPr>
              <a:t>NO-GO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11F1C28-B87A-4CB8-9AD2-056E36664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14625"/>
            <a:ext cx="109728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defPPr>
            <a:lvl1pPr>
              <a:defRPr sz="25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1pPr>
            <a:lvl2pPr>
              <a:defRPr sz="25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2pPr>
            <a:lvl3pPr>
              <a:defRPr sz="25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3pPr>
            <a:lvl4pPr>
              <a:defRPr sz="25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4pPr>
            <a:lvl5pPr>
              <a:defRPr sz="25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5pPr>
            <a:lvl6pPr>
              <a:defRPr sz="25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6pPr>
            <a:lvl7pPr>
              <a:defRPr sz="25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7pPr>
            <a:lvl8pPr>
              <a:defRPr sz="25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8pPr>
            <a:lvl9pPr>
              <a:defRPr sz="25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5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82D45"/>
                </a:solidFill>
                <a:latin typeface="Arial"/>
                <a:ea typeface="Arial"/>
                <a:cs typeface="Arial"/>
              </a:rPr>
              <a:t>Недопустимий pulse 99 виконується</a:t>
            </a:r>
          </a:p>
          <a:p xmlns:a="http://schemas.openxmlformats.org/drawingml/2006/main">
            <a:pPr>
              <a:defRPr sz="25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82D45"/>
                </a:solidFill>
                <a:latin typeface="Arial"/>
                <a:ea typeface="Arial"/>
                <a:cs typeface="Arial"/>
              </a:rPr>
              <a:t>Підтвердження наявного alert за ID не працює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8841F51-0499-4005-BA9B-08C70FE1E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47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087F8C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087F8C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087F8C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087F8C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087F8C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087F8C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087F8C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087F8C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087F8C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087F8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087F8C"/>
                </a:solidFill>
                <a:latin typeface="Arial"/>
                <a:ea typeface="Arial"/>
                <a:cs typeface="Arial"/>
              </a:rPr>
              <a:t>github.com/rpozniak/sentry-swm2-qa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BB43CD1-3B85-4DFB-852F-F0657BCF7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91025"/>
            <a:ext cx="1097280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defPPr>
            <a:lvl1pPr>
              <a:defRPr sz="22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1pPr>
            <a:lvl2pPr>
              <a:defRPr sz="22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2pPr>
            <a:lvl3pPr>
              <a:defRPr sz="22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3pPr>
            <a:lvl4pPr>
              <a:defRPr sz="22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4pPr>
            <a:lvl5pPr>
              <a:defRPr sz="22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5pPr>
            <a:lvl6pPr>
              <a:defRPr sz="22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6pPr>
            <a:lvl7pPr>
              <a:defRPr sz="22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7pPr>
            <a:lvl8pPr>
              <a:defRPr sz="22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8pPr>
            <a:lvl9pPr>
              <a:defRPr sz="22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87F8C"/>
                </a:solidFill>
                <a:latin typeface="Arial"/>
                <a:ea typeface="Arial"/>
                <a:cs typeface="Arial"/>
              </a:rPr>
              <a:t>Чотири дефекти 2.1.0 у beta не відтворились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C85477C-DC3C-4C43-8502-8D56F6F20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57800"/>
            <a:ext cx="109728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566A80"/>
                </a:solidFill>
                <a:latin typeface="Arial"/>
                <a:ea typeface="Arial"/>
                <a:cs typeface="Arial"/>
              </a:rPr>
              <a:t>Рекомендація: виправити pulse та ack за ID,</a:t>
            </a:r>
          </a:p>
          <a:p xmlns:a="http://schemas.openxmlformats.org/drawingml/2006/main">
            <a:pPr>
              <a:defRPr sz="210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566A80"/>
                </a:solidFill>
                <a:latin typeface="Arial"/>
                <a:ea typeface="Arial"/>
                <a:cs typeface="Arial"/>
              </a:rPr>
              <a:t>після цього повторити відповідні перевірки й регресію.</a:t>
            </a:r>
          </a:p>
        </p:txBody>
      </p:sp>
    </p:spTree>
    <p:extLst>
      <p:ext uri="{BB962C8B-B14F-4D97-AF65-F5344CB8AC3E}">
        <p14:creationId xmlns:p14="http://schemas.microsoft.com/office/powerpoint/2010/main" val="196520100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2026-10-24T19:59:15.8870000Z</dcterms:created>
  <dcterms:modified xsi:type="dcterms:W3CDTF">2026-10-24T19:59:15.8870000Z</dcterms:modified>
</coreProperties>
</file>